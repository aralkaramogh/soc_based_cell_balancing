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55448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6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algn="ctr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200400"/>
            <a:ext cx="10515600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SOC-Based Passive Cell Balancing  |  Energy Storage Systems for EV (7EL304)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edge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3" name="Course label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STORAGE SYSTEMS FOR EV  |  7EL304  |  MINI PROJECT</a:t>
            </a:r>
            <a:endParaRPr lang="en-US" sz="1200" dirty="0"/>
          </a:p>
        </p:txBody>
      </p:sp>
      <p:sp>
        <p:nvSpPr>
          <p:cNvPr id="4" name="Cover title"/>
          <p:cNvSpPr txBox="1"/>
          <p:nvPr/>
        </p:nvSpPr>
        <p:spPr>
          <a:xfrm>
            <a:off x="822960" y="146304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SOC-Based Passive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Cell Balancing for a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Series Li-ion Pack</a:t>
            </a:r>
            <a:endParaRPr lang="en-US" sz="4200" dirty="0"/>
          </a:p>
        </p:txBody>
      </p:sp>
      <p:sp>
        <p:nvSpPr>
          <p:cNvPr id="5" name="Cover rule"/>
          <p:cNvSpPr/>
          <p:nvPr/>
        </p:nvSpPr>
        <p:spPr>
          <a:xfrm>
            <a:off x="822960" y="3977640"/>
            <a:ext cx="1463040" cy="914"/>
          </a:xfrm>
          <a:prstGeom prst="line">
            <a:avLst/>
          </a:prstGeom>
          <a:noFill/>
          <a:ln w="38100">
            <a:solidFill>
              <a:srgbClr val="00629B"/>
            </a:solidFill>
            <a:prstDash val="solid"/>
          </a:ln>
        </p:spPr>
      </p:sp>
      <p:sp>
        <p:nvSpPr>
          <p:cNvPr id="6" name="Cover subtitle"/>
          <p:cNvSpPr txBox="1"/>
          <p:nvPr/>
        </p:nvSpPr>
        <p:spPr>
          <a:xfrm>
            <a:off x="822960" y="416052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Simulink / Simscape Battery model with Monte Carlo analysis of cell mismatch</a:t>
            </a:r>
            <a:endParaRPr lang="en-US" sz="1800" dirty="0"/>
          </a:p>
        </p:txBody>
      </p:sp>
      <p:sp>
        <p:nvSpPr>
          <p:cNvPr id="7" name="Cover credits"/>
          <p:cNvSpPr txBox="1"/>
          <p:nvPr/>
        </p:nvSpPr>
        <p:spPr>
          <a:xfrm>
            <a:off x="822960" y="53035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[member names]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Guide: [faculty name]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Electrical Engineering  |  October 2026</a:t>
            </a:r>
            <a:endParaRPr lang="en-US" sz="1300" dirty="0"/>
          </a:p>
        </p:txBody>
      </p:sp>
      <p:sp>
        <p:nvSpPr>
          <p:cNvPr id="8" name="Cell 1 terminal"/>
          <p:cNvSpPr/>
          <p:nvPr/>
        </p:nvSpPr>
        <p:spPr>
          <a:xfrm>
            <a:off x="8572500" y="1901952"/>
            <a:ext cx="365760" cy="109728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9" name="Cell 1 body"/>
          <p:cNvSpPr/>
          <p:nvPr/>
        </p:nvSpPr>
        <p:spPr>
          <a:xfrm>
            <a:off x="8321040" y="2011680"/>
            <a:ext cx="8686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404040"/>
            </a:solidFill>
            <a:prstDash val="solid"/>
          </a:ln>
        </p:spPr>
      </p:sp>
      <p:sp>
        <p:nvSpPr>
          <p:cNvPr id="10" name="Cell 1 charge"/>
          <p:cNvSpPr/>
          <p:nvPr/>
        </p:nvSpPr>
        <p:spPr>
          <a:xfrm>
            <a:off x="8394192" y="2567635"/>
            <a:ext cx="722376" cy="1931213"/>
          </a:xfrm>
          <a:prstGeom prst="rect">
            <a:avLst/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1" name="Cell 1 SOC"/>
          <p:cNvSpPr txBox="1"/>
          <p:nvPr/>
        </p:nvSpPr>
        <p:spPr>
          <a:xfrm>
            <a:off x="8321040" y="466344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400" dirty="0"/>
          </a:p>
        </p:txBody>
      </p:sp>
      <p:sp>
        <p:nvSpPr>
          <p:cNvPr id="12" name="Cell 2 terminal"/>
          <p:cNvSpPr/>
          <p:nvPr/>
        </p:nvSpPr>
        <p:spPr>
          <a:xfrm>
            <a:off x="9761220" y="1901952"/>
            <a:ext cx="365760" cy="109728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3" name="Cell 2 body"/>
          <p:cNvSpPr/>
          <p:nvPr/>
        </p:nvSpPr>
        <p:spPr>
          <a:xfrm>
            <a:off x="9509760" y="2011680"/>
            <a:ext cx="8686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404040"/>
            </a:solidFill>
            <a:prstDash val="solid"/>
          </a:ln>
        </p:spPr>
      </p:sp>
      <p:sp>
        <p:nvSpPr>
          <p:cNvPr id="14" name="Cell 2 charge"/>
          <p:cNvSpPr/>
          <p:nvPr/>
        </p:nvSpPr>
        <p:spPr>
          <a:xfrm>
            <a:off x="9582912" y="2688336"/>
            <a:ext cx="722376" cy="1810512"/>
          </a:xfrm>
          <a:prstGeom prst="rect">
            <a:avLst/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5" name="Cell 2 SOC"/>
          <p:cNvSpPr txBox="1"/>
          <p:nvPr/>
        </p:nvSpPr>
        <p:spPr>
          <a:xfrm>
            <a:off x="9509760" y="466344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400" dirty="0"/>
          </a:p>
        </p:txBody>
      </p:sp>
      <p:sp>
        <p:nvSpPr>
          <p:cNvPr id="16" name="Cell 3 terminal"/>
          <p:cNvSpPr/>
          <p:nvPr/>
        </p:nvSpPr>
        <p:spPr>
          <a:xfrm>
            <a:off x="10949940" y="1901952"/>
            <a:ext cx="365760" cy="109728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7" name="Cell 3 body"/>
          <p:cNvSpPr/>
          <p:nvPr/>
        </p:nvSpPr>
        <p:spPr>
          <a:xfrm>
            <a:off x="10698480" y="2011680"/>
            <a:ext cx="8686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404040"/>
            </a:solidFill>
            <a:prstDash val="solid"/>
          </a:ln>
        </p:spPr>
      </p:sp>
      <p:sp>
        <p:nvSpPr>
          <p:cNvPr id="18" name="Cell 3 charge"/>
          <p:cNvSpPr/>
          <p:nvPr/>
        </p:nvSpPr>
        <p:spPr>
          <a:xfrm>
            <a:off x="10771632" y="2688336"/>
            <a:ext cx="722376" cy="1810512"/>
          </a:xfrm>
          <a:prstGeom prst="rect">
            <a:avLst/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9" name="Cell 3 SOC"/>
          <p:cNvSpPr txBox="1"/>
          <p:nvPr/>
        </p:nvSpPr>
        <p:spPr>
          <a:xfrm>
            <a:off x="10698480" y="466344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400" dirty="0"/>
          </a:p>
        </p:txBody>
      </p:sp>
      <p:sp>
        <p:nvSpPr>
          <p:cNvPr id="20" name="Cover caption"/>
          <p:cNvSpPr txBox="1"/>
          <p:nvPr/>
        </p:nvSpPr>
        <p:spPr>
          <a:xfrm>
            <a:off x="8321040" y="52578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cells in series with unequal SOC: the imbalance the balancer removes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Contents</a:t>
            </a:r>
            <a:endParaRPr lang="en-US" sz="3000" dirty="0"/>
          </a:p>
        </p:txBody>
      </p:sp>
      <p:sp>
        <p:nvSpPr>
          <p:cNvPr id="3" name="Text"/>
          <p:cNvSpPr txBox="1"/>
          <p:nvPr/>
        </p:nvSpPr>
        <p:spPr>
          <a:xfrm>
            <a:off x="914400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29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"/>
          <p:cNvSpPr txBox="1"/>
          <p:nvPr/>
        </p:nvSpPr>
        <p:spPr>
          <a:xfrm>
            <a:off x="1645920" y="1371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Problem statement and objectives</a:t>
            </a:r>
            <a:endParaRPr lang="en-US" sz="2000" dirty="0"/>
          </a:p>
        </p:txBody>
      </p:sp>
      <p:sp>
        <p:nvSpPr>
          <p:cNvPr id="5" name="Text"/>
          <p:cNvSpPr txBox="1"/>
          <p:nvPr/>
        </p:nvSpPr>
        <p:spPr>
          <a:xfrm>
            <a:off x="9875520" y="1371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95959"/>
                </a:solidFill>
              </a:rPr>
              <a:t>3</a:t>
            </a:r>
            <a:endParaRPr lang="en-US" sz="1600" dirty="0"/>
          </a:p>
        </p:txBody>
      </p:sp>
      <p:sp>
        <p:nvSpPr>
          <p:cNvPr id="6" name="Contents rule"/>
          <p:cNvSpPr/>
          <p:nvPr/>
        </p:nvSpPr>
        <p:spPr>
          <a:xfrm>
            <a:off x="914400" y="1965960"/>
            <a:ext cx="10241280" cy="914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" name="Text"/>
          <p:cNvSpPr txBox="1"/>
          <p:nvPr/>
        </p:nvSpPr>
        <p:spPr>
          <a:xfrm>
            <a:off x="914400" y="2148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29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"/>
          <p:cNvSpPr txBox="1"/>
          <p:nvPr/>
        </p:nvSpPr>
        <p:spPr>
          <a:xfrm>
            <a:off x="1645920" y="2148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Methodology and system specification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9875520" y="2148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95959"/>
                </a:solidFill>
              </a:rPr>
              <a:t>4</a:t>
            </a:r>
            <a:endParaRPr lang="en-US" sz="1600" dirty="0"/>
          </a:p>
        </p:txBody>
      </p:sp>
      <p:sp>
        <p:nvSpPr>
          <p:cNvPr id="10" name="Contents rule"/>
          <p:cNvSpPr/>
          <p:nvPr/>
        </p:nvSpPr>
        <p:spPr>
          <a:xfrm>
            <a:off x="914400" y="2743200"/>
            <a:ext cx="10241280" cy="914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1" name="Text"/>
          <p:cNvSpPr txBox="1"/>
          <p:nvPr/>
        </p:nvSpPr>
        <p:spPr>
          <a:xfrm>
            <a:off x="914400" y="2926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29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Text"/>
          <p:cNvSpPr txBox="1"/>
          <p:nvPr/>
        </p:nvSpPr>
        <p:spPr>
          <a:xfrm>
            <a:off x="1645920" y="2926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Modelling: cell, pack architecture, control</a:t>
            </a:r>
            <a:endParaRPr lang="en-US" sz="2000" dirty="0"/>
          </a:p>
        </p:txBody>
      </p:sp>
      <p:sp>
        <p:nvSpPr>
          <p:cNvPr id="13" name="Text"/>
          <p:cNvSpPr txBox="1"/>
          <p:nvPr/>
        </p:nvSpPr>
        <p:spPr>
          <a:xfrm>
            <a:off x="9875520" y="2926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95959"/>
                </a:solidFill>
              </a:rPr>
              <a:t>5-7</a:t>
            </a:r>
            <a:endParaRPr lang="en-US" sz="1600" dirty="0"/>
          </a:p>
        </p:txBody>
      </p:sp>
      <p:sp>
        <p:nvSpPr>
          <p:cNvPr id="14" name="Contents rule"/>
          <p:cNvSpPr/>
          <p:nvPr/>
        </p:nvSpPr>
        <p:spPr>
          <a:xfrm>
            <a:off x="914400" y="3520440"/>
            <a:ext cx="10241280" cy="914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5" name="Text"/>
          <p:cNvSpPr txBox="1"/>
          <p:nvPr/>
        </p:nvSpPr>
        <p:spPr>
          <a:xfrm>
            <a:off x="914400" y="3703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29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600" dirty="0"/>
          </a:p>
        </p:txBody>
      </p:sp>
      <p:sp>
        <p:nvSpPr>
          <p:cNvPr id="16" name="Text"/>
          <p:cNvSpPr txBox="1"/>
          <p:nvPr/>
        </p:nvSpPr>
        <p:spPr>
          <a:xfrm>
            <a:off x="1645920" y="3703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Results: identical and mismatched cells</a:t>
            </a:r>
            <a:endParaRPr lang="en-US" sz="2000" dirty="0"/>
          </a:p>
        </p:txBody>
      </p:sp>
      <p:sp>
        <p:nvSpPr>
          <p:cNvPr id="17" name="Text"/>
          <p:cNvSpPr txBox="1"/>
          <p:nvPr/>
        </p:nvSpPr>
        <p:spPr>
          <a:xfrm>
            <a:off x="9875520" y="3703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95959"/>
                </a:solidFill>
              </a:rPr>
              <a:t>8-9</a:t>
            </a:r>
            <a:endParaRPr lang="en-US" sz="1600" dirty="0"/>
          </a:p>
        </p:txBody>
      </p:sp>
      <p:sp>
        <p:nvSpPr>
          <p:cNvPr id="18" name="Contents rule"/>
          <p:cNvSpPr/>
          <p:nvPr/>
        </p:nvSpPr>
        <p:spPr>
          <a:xfrm>
            <a:off x="914400" y="4297680"/>
            <a:ext cx="10241280" cy="914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9" name="Text"/>
          <p:cNvSpPr txBox="1"/>
          <p:nvPr/>
        </p:nvSpPr>
        <p:spPr>
          <a:xfrm>
            <a:off x="914400" y="4480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29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600" dirty="0"/>
          </a:p>
        </p:txBody>
      </p:sp>
      <p:sp>
        <p:nvSpPr>
          <p:cNvPr id="20" name="Text"/>
          <p:cNvSpPr txBox="1"/>
          <p:nvPr/>
        </p:nvSpPr>
        <p:spPr>
          <a:xfrm>
            <a:off x="1645920" y="4480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Monte Carlo analysis</a:t>
            </a:r>
            <a:endParaRPr lang="en-US" sz="2000" dirty="0"/>
          </a:p>
        </p:txBody>
      </p:sp>
      <p:sp>
        <p:nvSpPr>
          <p:cNvPr id="21" name="Text"/>
          <p:cNvSpPr txBox="1"/>
          <p:nvPr/>
        </p:nvSpPr>
        <p:spPr>
          <a:xfrm>
            <a:off x="9875520" y="4480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95959"/>
                </a:solidFill>
              </a:rPr>
              <a:t>10-12</a:t>
            </a:r>
            <a:endParaRPr lang="en-US" sz="1600" dirty="0"/>
          </a:p>
        </p:txBody>
      </p:sp>
      <p:sp>
        <p:nvSpPr>
          <p:cNvPr id="22" name="Contents rule"/>
          <p:cNvSpPr/>
          <p:nvPr/>
        </p:nvSpPr>
        <p:spPr>
          <a:xfrm>
            <a:off x="914400" y="5074920"/>
            <a:ext cx="10241280" cy="914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3" name="Text"/>
          <p:cNvSpPr txBox="1"/>
          <p:nvPr/>
        </p:nvSpPr>
        <p:spPr>
          <a:xfrm>
            <a:off x="914400" y="5257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29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2600" dirty="0"/>
          </a:p>
        </p:txBody>
      </p:sp>
      <p:sp>
        <p:nvSpPr>
          <p:cNvPr id="24" name="Text"/>
          <p:cNvSpPr txBox="1"/>
          <p:nvPr/>
        </p:nvSpPr>
        <p:spPr>
          <a:xfrm>
            <a:off x="1645920" y="5257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Conclusion, future work and references</a:t>
            </a:r>
            <a:endParaRPr lang="en-US" sz="2000" dirty="0"/>
          </a:p>
        </p:txBody>
      </p:sp>
      <p:sp>
        <p:nvSpPr>
          <p:cNvPr id="25" name="Text"/>
          <p:cNvSpPr txBox="1"/>
          <p:nvPr/>
        </p:nvSpPr>
        <p:spPr>
          <a:xfrm>
            <a:off x="9875520" y="5257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95959"/>
                </a:solidFill>
              </a:rPr>
              <a:t>13</a:t>
            </a:r>
            <a:endParaRPr lang="en-US" sz="1600" dirty="0"/>
          </a:p>
        </p:txBody>
      </p:sp>
      <p:sp>
        <p:nvSpPr>
          <p:cNvPr id="26" name="Contents rule"/>
          <p:cNvSpPr/>
          <p:nvPr/>
        </p:nvSpPr>
        <p:spPr>
          <a:xfrm>
            <a:off x="914400" y="5852160"/>
            <a:ext cx="10241280" cy="914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and Objectives</a:t>
            </a:r>
            <a:endParaRPr lang="en-US" sz="3000" dirty="0"/>
          </a:p>
        </p:txBody>
      </p:sp>
      <p:pic>
        <p:nvPicPr>
          <p:cNvPr id="3" name="Voltage vs SOC single cell" descr="Voltage vs SOC single ce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741" y="1188720"/>
            <a:ext cx="5056437" cy="4206240"/>
          </a:xfrm>
          <a:prstGeom prst="rect">
            <a:avLst/>
          </a:prstGeom>
        </p:spPr>
      </p:pic>
      <p:sp>
        <p:nvSpPr>
          <p:cNvPr id="4" name="Caption Fig 1"/>
          <p:cNvSpPr txBox="1"/>
          <p:nvPr/>
        </p:nvSpPr>
        <p:spPr>
          <a:xfrm>
            <a:off x="548640" y="5440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1. </a:t>
            </a:r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Single cell, 4 A pulses: voltage sags while SOC is unchanged.</a:t>
            </a:r>
            <a:endParaRPr lang="en-US" sz="1100" dirty="0"/>
          </a:p>
        </p:txBody>
      </p:sp>
      <p:sp>
        <p:nvSpPr>
          <p:cNvPr id="5" name="Text"/>
          <p:cNvSpPr txBox="1"/>
          <p:nvPr/>
        </p:nvSpPr>
        <p:spPr>
          <a:xfrm>
            <a:off x="6035040" y="11887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Problem</a:t>
            </a:r>
            <a:endParaRPr lang="en-US" sz="1600" dirty="0"/>
          </a:p>
        </p:txBody>
      </p:sp>
      <p:sp>
        <p:nvSpPr>
          <p:cNvPr id="6" name="Body text"/>
          <p:cNvSpPr txBox="1"/>
          <p:nvPr/>
        </p:nvSpPr>
        <p:spPr>
          <a:xfrm>
            <a:off x="6035040" y="1554480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Cells in series carry the same current; capacity and R0 spread makes their SOC drift apart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Usable pack capacity = weakest cell, so imbalance wastes capacity and ages that cell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Voltage-based balancing is unreliable: at equal SOC the cell reads 3.897 V under load and 4.097 V at rest (0.20 V error) [2], [4]</a:t>
            </a:r>
            <a:endParaRPr lang="en-US" sz="1400" dirty="0"/>
          </a:p>
        </p:txBody>
      </p:sp>
      <p:sp>
        <p:nvSpPr>
          <p:cNvPr id="7" name="Text"/>
          <p:cNvSpPr txBox="1"/>
          <p:nvPr/>
        </p:nvSpPr>
        <p:spPr>
          <a:xfrm>
            <a:off x="6035040" y="37033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Objectives</a:t>
            </a:r>
            <a:endParaRPr lang="en-US" sz="1600" dirty="0"/>
          </a:p>
        </p:txBody>
      </p:sp>
      <p:sp>
        <p:nvSpPr>
          <p:cNvPr id="8" name="Body text"/>
          <p:cNvSpPr txBox="1"/>
          <p:nvPr/>
        </p:nvSpPr>
        <p:spPr>
          <a:xfrm>
            <a:off x="6035040" y="4069080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Model a 3S Li-ion pack with per-cell passive balancing in Simulink/Simscape Battery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Drive the bleed decision by SOC with hysteresis, under a charge/rest/discharge cycle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Quantify balancing time, dissipated energy and final spread, including a Monte Carlo study over random cell mismatch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 and System Specification</a:t>
            </a:r>
            <a:endParaRPr lang="en-US" sz="3000" dirty="0"/>
          </a:p>
        </p:txBody>
      </p:sp>
      <p:sp>
        <p:nvSpPr>
          <p:cNvPr id="3" name="Method 1"/>
          <p:cNvSpPr/>
          <p:nvPr/>
        </p:nvSpPr>
        <p:spPr>
          <a:xfrm>
            <a:off x="548640" y="1234440"/>
            <a:ext cx="169164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 Cell model</a:t>
            </a:r>
            <a:endParaRPr lang="en-US" sz="1300" dirty="0"/>
          </a:p>
        </p:txBody>
      </p:sp>
      <p:sp>
        <p:nvSpPr>
          <p:cNvPr id="4" name="Text"/>
          <p:cNvSpPr txBox="1"/>
          <p:nvPr/>
        </p:nvSpPr>
        <p:spPr>
          <a:xfrm>
            <a:off x="548640" y="1828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1-RC equivalent circuit</a:t>
            </a:r>
            <a:endParaRPr lang="en-US" sz="1100" dirty="0"/>
          </a:p>
        </p:txBody>
      </p:sp>
      <p:sp>
        <p:nvSpPr>
          <p:cNvPr id="5" name="Arrow"/>
          <p:cNvSpPr/>
          <p:nvPr/>
        </p:nvSpPr>
        <p:spPr>
          <a:xfrm>
            <a:off x="2240280" y="1508760"/>
            <a:ext cx="18288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6" name="Method 2"/>
          <p:cNvSpPr/>
          <p:nvPr/>
        </p:nvSpPr>
        <p:spPr>
          <a:xfrm>
            <a:off x="2423160" y="1234440"/>
            <a:ext cx="169164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 Validation</a:t>
            </a:r>
            <a:endParaRPr lang="en-US" sz="1300" dirty="0"/>
          </a:p>
        </p:txBody>
      </p:sp>
      <p:sp>
        <p:nvSpPr>
          <p:cNvPr id="7" name="Text"/>
          <p:cNvSpPr txBox="1"/>
          <p:nvPr/>
        </p:nvSpPr>
        <p:spPr>
          <a:xfrm>
            <a:off x="2423160" y="1828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vs. independent script</a:t>
            </a:r>
            <a:endParaRPr lang="en-US" sz="1100" dirty="0"/>
          </a:p>
        </p:txBody>
      </p:sp>
      <p:sp>
        <p:nvSpPr>
          <p:cNvPr id="8" name="Arrow"/>
          <p:cNvSpPr/>
          <p:nvPr/>
        </p:nvSpPr>
        <p:spPr>
          <a:xfrm>
            <a:off x="4114800" y="1508760"/>
            <a:ext cx="18288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9" name="Method 3"/>
          <p:cNvSpPr/>
          <p:nvPr/>
        </p:nvSpPr>
        <p:spPr>
          <a:xfrm>
            <a:off x="4297680" y="1234440"/>
            <a:ext cx="169164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 Pack model</a:t>
            </a:r>
            <a:endParaRPr lang="en-US" sz="1300" dirty="0"/>
          </a:p>
        </p:txBody>
      </p:sp>
      <p:sp>
        <p:nvSpPr>
          <p:cNvPr id="10" name="Text"/>
          <p:cNvSpPr txBox="1"/>
          <p:nvPr/>
        </p:nvSpPr>
        <p:spPr>
          <a:xfrm>
            <a:off x="4297680" y="1828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3 cells + bleed circuits</a:t>
            </a:r>
            <a:endParaRPr lang="en-US" sz="1100" dirty="0"/>
          </a:p>
        </p:txBody>
      </p:sp>
      <p:sp>
        <p:nvSpPr>
          <p:cNvPr id="11" name="Arrow"/>
          <p:cNvSpPr/>
          <p:nvPr/>
        </p:nvSpPr>
        <p:spPr>
          <a:xfrm>
            <a:off x="5989320" y="1508760"/>
            <a:ext cx="18288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2" name="Method 4"/>
          <p:cNvSpPr/>
          <p:nvPr/>
        </p:nvSpPr>
        <p:spPr>
          <a:xfrm>
            <a:off x="6172200" y="1234440"/>
            <a:ext cx="169164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 Control</a:t>
            </a:r>
            <a:endParaRPr lang="en-US" sz="1300" dirty="0"/>
          </a:p>
        </p:txBody>
      </p:sp>
      <p:sp>
        <p:nvSpPr>
          <p:cNvPr id="13" name="Text"/>
          <p:cNvSpPr txBox="1"/>
          <p:nvPr/>
        </p:nvSpPr>
        <p:spPr>
          <a:xfrm>
            <a:off x="6172200" y="1828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SOC rule + mode supervisor</a:t>
            </a:r>
            <a:endParaRPr lang="en-US" sz="1100" dirty="0"/>
          </a:p>
        </p:txBody>
      </p:sp>
      <p:sp>
        <p:nvSpPr>
          <p:cNvPr id="14" name="Arrow"/>
          <p:cNvSpPr/>
          <p:nvPr/>
        </p:nvSpPr>
        <p:spPr>
          <a:xfrm>
            <a:off x="7863840" y="1508760"/>
            <a:ext cx="18288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5" name="Method 5"/>
          <p:cNvSpPr/>
          <p:nvPr/>
        </p:nvSpPr>
        <p:spPr>
          <a:xfrm>
            <a:off x="8046720" y="1234440"/>
            <a:ext cx="169164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5 Case studies</a:t>
            </a:r>
            <a:endParaRPr lang="en-US" sz="1300" dirty="0"/>
          </a:p>
        </p:txBody>
      </p:sp>
      <p:sp>
        <p:nvSpPr>
          <p:cNvPr id="16" name="Text"/>
          <p:cNvSpPr txBox="1"/>
          <p:nvPr/>
        </p:nvSpPr>
        <p:spPr>
          <a:xfrm>
            <a:off x="8046720" y="1828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identical and mismatched cells</a:t>
            </a:r>
            <a:endParaRPr lang="en-US" sz="1100" dirty="0"/>
          </a:p>
        </p:txBody>
      </p:sp>
      <p:sp>
        <p:nvSpPr>
          <p:cNvPr id="17" name="Arrow"/>
          <p:cNvSpPr/>
          <p:nvPr/>
        </p:nvSpPr>
        <p:spPr>
          <a:xfrm>
            <a:off x="9738360" y="1508760"/>
            <a:ext cx="18288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8" name="Method 6"/>
          <p:cNvSpPr/>
          <p:nvPr/>
        </p:nvSpPr>
        <p:spPr>
          <a:xfrm>
            <a:off x="9921240" y="1234440"/>
            <a:ext cx="1691640" cy="548640"/>
          </a:xfrm>
          <a:prstGeom prst="rect">
            <a:avLst/>
          </a:prstGeom>
          <a:solidFill>
            <a:srgbClr val="DCEAF3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6 Monte Carlo</a:t>
            </a:r>
            <a:endParaRPr lang="en-US" sz="1300" dirty="0"/>
          </a:p>
        </p:txBody>
      </p:sp>
      <p:sp>
        <p:nvSpPr>
          <p:cNvPr id="19" name="Text"/>
          <p:cNvSpPr txBox="1"/>
          <p:nvPr/>
        </p:nvSpPr>
        <p:spPr>
          <a:xfrm>
            <a:off x="9921240" y="1828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200 random packs, parallel runs</a:t>
            </a:r>
            <a:endParaRPr lang="en-US" sz="1100" dirty="0"/>
          </a:p>
        </p:txBody>
      </p:sp>
      <p:sp>
        <p:nvSpPr>
          <p:cNvPr id="20" name="Caption Table 1"/>
          <p:cNvSpPr txBox="1"/>
          <p:nvPr/>
        </p:nvSpPr>
        <p:spPr>
          <a:xfrm>
            <a:off x="548640" y="24231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TABLE I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PACK AND SIMULATION PARAMETERS</a:t>
            </a:r>
            <a:endParaRPr lang="en-US" sz="11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69494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Configuration / cell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3S1P, Li-ion 3.7 V, 2.5 Ah per cell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 capacity / voltage / energy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 Ah / 11.1 V (9.0-12.6 V) / 27.75 Wh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Charge / discharge current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 A (0.5C)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Charge cut-off / resume; discharge limit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4.20 V / 4.15 V (highest cell); 3.00 V (lowest)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Bleed resistor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 Ω per cell (≈ 88 mA, ≈ 3.5 % of 1C) [3]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Balancing ON / OFF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ΔSOC &gt; 1.0 % / &lt; 0.5 %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Cycle and BMS sample time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 / 20 / 40 / 10 min; 1 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Body text"/>
          <p:cNvSpPr txBox="1"/>
          <p:nvPr/>
        </p:nvSpPr>
        <p:spPr>
          <a:xfrm>
            <a:off x="7863840" y="251460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Pack Ah equals cell Ah (series); voltage adds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Same model for every study; only Cap, R0 scale and initial SOC change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 numbers live in one parameter script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Cell Model and Validation</a:t>
            </a:r>
            <a:endParaRPr lang="en-US" sz="3000" dirty="0"/>
          </a:p>
        </p:txBody>
      </p:sp>
      <p:sp>
        <p:nvSpPr>
          <p:cNvPr id="3" name="OCV"/>
          <p:cNvSpPr/>
          <p:nvPr/>
        </p:nvSpPr>
        <p:spPr>
          <a:xfrm>
            <a:off x="548640" y="1371600"/>
            <a:ext cx="1097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OCV(SOC)</a:t>
            </a:r>
            <a:endParaRPr lang="en-US" sz="1200" dirty="0"/>
          </a:p>
        </p:txBody>
      </p:sp>
      <p:sp>
        <p:nvSpPr>
          <p:cNvPr id="4" name="Wire"/>
          <p:cNvSpPr/>
          <p:nvPr/>
        </p:nvSpPr>
        <p:spPr>
          <a:xfrm>
            <a:off x="1645920" y="1691640"/>
            <a:ext cx="27432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5" name="R0"/>
          <p:cNvSpPr/>
          <p:nvPr/>
        </p:nvSpPr>
        <p:spPr>
          <a:xfrm>
            <a:off x="1920240" y="1508760"/>
            <a:ext cx="731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R₀</a:t>
            </a:r>
            <a:endParaRPr lang="en-US" sz="1300" dirty="0"/>
          </a:p>
        </p:txBody>
      </p:sp>
      <p:sp>
        <p:nvSpPr>
          <p:cNvPr id="6" name="Wire"/>
          <p:cNvSpPr/>
          <p:nvPr/>
        </p:nvSpPr>
        <p:spPr>
          <a:xfrm>
            <a:off x="2651760" y="1691640"/>
            <a:ext cx="27432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7" name="R1"/>
          <p:cNvSpPr/>
          <p:nvPr/>
        </p:nvSpPr>
        <p:spPr>
          <a:xfrm>
            <a:off x="2926080" y="1234440"/>
            <a:ext cx="914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R₁</a:t>
            </a:r>
            <a:endParaRPr lang="en-US" sz="1300" dirty="0"/>
          </a:p>
        </p:txBody>
      </p:sp>
      <p:sp>
        <p:nvSpPr>
          <p:cNvPr id="8" name="C1"/>
          <p:cNvSpPr/>
          <p:nvPr/>
        </p:nvSpPr>
        <p:spPr>
          <a:xfrm>
            <a:off x="2926080" y="1783080"/>
            <a:ext cx="914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C₁</a:t>
            </a:r>
            <a:endParaRPr lang="en-US" sz="1300" dirty="0"/>
          </a:p>
        </p:txBody>
      </p:sp>
      <p:sp>
        <p:nvSpPr>
          <p:cNvPr id="9" name="Wire"/>
          <p:cNvSpPr/>
          <p:nvPr/>
        </p:nvSpPr>
        <p:spPr>
          <a:xfrm>
            <a:off x="2926080" y="1417320"/>
            <a:ext cx="914" cy="54864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10" name="Wire"/>
          <p:cNvSpPr/>
          <p:nvPr/>
        </p:nvSpPr>
        <p:spPr>
          <a:xfrm>
            <a:off x="3840480" y="1417320"/>
            <a:ext cx="914" cy="54864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11" name="Wire"/>
          <p:cNvSpPr/>
          <p:nvPr/>
        </p:nvSpPr>
        <p:spPr>
          <a:xfrm>
            <a:off x="3840480" y="1691640"/>
            <a:ext cx="36576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</p:sp>
      <p:sp>
        <p:nvSpPr>
          <p:cNvPr id="12" name="Text"/>
          <p:cNvSpPr txBox="1"/>
          <p:nvPr/>
        </p:nvSpPr>
        <p:spPr>
          <a:xfrm>
            <a:off x="4251960" y="1554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+ V_t</a:t>
            </a:r>
            <a:endParaRPr lang="en-US" sz="1300" dirty="0"/>
          </a:p>
        </p:txBody>
      </p:sp>
      <p:sp>
        <p:nvSpPr>
          <p:cNvPr id="13" name="Equation"/>
          <p:cNvSpPr txBox="1"/>
          <p:nvPr/>
        </p:nvSpPr>
        <p:spPr>
          <a:xfrm>
            <a:off x="548640" y="25146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 = SOC₀ − (1/Q) ∫ I dt</a:t>
            </a:r>
            <a:endParaRPr lang="en-US" sz="1700" dirty="0"/>
          </a:p>
        </p:txBody>
      </p:sp>
      <p:sp>
        <p:nvSpPr>
          <p:cNvPr id="14" name="Equation"/>
          <p:cNvSpPr txBox="1"/>
          <p:nvPr/>
        </p:nvSpPr>
        <p:spPr>
          <a:xfrm>
            <a:off x="548640" y="2971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dV₁/dt = −V₁/(R₁C₁) + I/C₁</a:t>
            </a:r>
            <a:endParaRPr lang="en-US" sz="1700" dirty="0"/>
          </a:p>
        </p:txBody>
      </p:sp>
      <p:sp>
        <p:nvSpPr>
          <p:cNvPr id="15" name="Equation"/>
          <p:cNvSpPr txBox="1"/>
          <p:nvPr/>
        </p:nvSpPr>
        <p:spPr>
          <a:xfrm>
            <a:off x="548640" y="3429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V_t = OCV(SOC) − I·R₀ − V₁</a:t>
            </a:r>
            <a:endParaRPr lang="en-US" sz="1700" dirty="0"/>
          </a:p>
        </p:txBody>
      </p:sp>
      <p:sp>
        <p:nvSpPr>
          <p:cNvPr id="16" name="Text"/>
          <p:cNvSpPr txBox="1"/>
          <p:nvPr/>
        </p:nvSpPr>
        <p:spPr>
          <a:xfrm>
            <a:off x="548640" y="39776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 &gt; 0 = discharge. Q = 2.5 Ah, R₀ = 30 mΩ, R₁ = 20 mΩ, τ = R₁C₁ = 40 s. OCV from a lookup table over SOC.</a:t>
            </a:r>
            <a:endParaRPr lang="en-US" sz="1200" dirty="0"/>
          </a:p>
        </p:txBody>
      </p:sp>
      <p:sp>
        <p:nvSpPr>
          <p:cNvPr id="17" name="Caption Table 2"/>
          <p:cNvSpPr txBox="1"/>
          <p:nvPr/>
        </p:nvSpPr>
        <p:spPr>
          <a:xfrm>
            <a:off x="548640" y="4663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TABLE II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MEAN VOLTAGE ERROR VS. REFERENCE SCRIPT</a:t>
            </a:r>
            <a:endParaRPr lang="en-US" sz="1100" dirty="0"/>
          </a:p>
        </p:txBody>
      </p:sp>
      <p:graphicFrame>
        <p:nvGraphicFramePr>
          <p:cNvPr id="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166360"/>
          <a:ext cx="49377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Simulink, no RC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0.040 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Simulink, with RC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0.0001 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Simscape Battery (used)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0.0006 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9" name="Validation Simscape" descr="Validation Simsca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188720"/>
            <a:ext cx="5760720" cy="4245927"/>
          </a:xfrm>
          <a:prstGeom prst="rect">
            <a:avLst/>
          </a:prstGeom>
        </p:spPr>
      </p:pic>
      <p:sp>
        <p:nvSpPr>
          <p:cNvPr id="20" name="Caption Fig 2"/>
          <p:cNvSpPr txBox="1"/>
          <p:nvPr/>
        </p:nvSpPr>
        <p:spPr>
          <a:xfrm>
            <a:off x="5852160" y="5480367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2. </a:t>
            </a:r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Simscape Battery block vs. the hand-written script: curves overlap.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Pack Model Architecture</a:t>
            </a:r>
            <a:endParaRPr lang="en-US" sz="3000" dirty="0"/>
          </a:p>
        </p:txBody>
      </p:sp>
      <p:pic>
        <p:nvPicPr>
          <p:cNvPr id="3" name="Final model top level" descr="Final model top lev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083" y="1188720"/>
            <a:ext cx="6613193" cy="3291840"/>
          </a:xfrm>
          <a:prstGeom prst="rect">
            <a:avLst/>
          </a:prstGeom>
        </p:spPr>
      </p:pic>
      <p:sp>
        <p:nvSpPr>
          <p:cNvPr id="4" name="Caption Fig 3"/>
          <p:cNvSpPr txBox="1"/>
          <p:nvPr/>
        </p:nvSpPr>
        <p:spPr>
          <a:xfrm>
            <a:off x="548640" y="45262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3. </a:t>
            </a:r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Final model: plant (Charger, Cells 1-3) above, BMS below.</a:t>
            </a:r>
            <a:endParaRPr lang="en-US" sz="1100" dirty="0"/>
          </a:p>
        </p:txBody>
      </p:sp>
      <p:sp>
        <p:nvSpPr>
          <p:cNvPr id="5" name="Body text"/>
          <p:cNvSpPr txBox="1"/>
          <p:nvPr/>
        </p:nvSpPr>
        <p:spPr>
          <a:xfrm>
            <a:off x="8321040" y="1280160"/>
            <a:ext cx="32918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Built iteratively: single cell, 3S string, 4.2 V cut-off, bleed circuits; the flat 41-block model was then restructured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Subsystems for easier viewing: masked Cell k (battery, bleed switch, 47 Ω, sensors), Charger, BMS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Plant separated from control, as hardware and firmware in a real pack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Goto/From tags replace crossing wires; one parameter script, no values typed into blocks</a:t>
            </a:r>
            <a:endParaRPr lang="en-US" sz="1300" dirty="0"/>
          </a:p>
        </p:txBody>
      </p:sp>
      <p:pic>
        <p:nvPicPr>
          <p:cNvPr id="6" name="Cell subsystem" descr="Cell subsyste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402" y="4846320"/>
            <a:ext cx="1539995" cy="914400"/>
          </a:xfrm>
          <a:prstGeom prst="rect">
            <a:avLst/>
          </a:prstGeom>
        </p:spPr>
      </p:pic>
      <p:sp>
        <p:nvSpPr>
          <p:cNvPr id="7" name="Caption Fig 4"/>
          <p:cNvSpPr txBox="1"/>
          <p:nvPr/>
        </p:nvSpPr>
        <p:spPr>
          <a:xfrm>
            <a:off x="548640" y="5806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4. </a:t>
            </a:r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Inside Cell k (masked subsystem).</a:t>
            </a:r>
            <a:endParaRPr lang="en-US" sz="1100" dirty="0"/>
          </a:p>
        </p:txBody>
      </p:sp>
      <p:pic>
        <p:nvPicPr>
          <p:cNvPr id="8" name="BMS subsystem" descr="BMS subsyste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589" y="4846320"/>
            <a:ext cx="2858022" cy="914400"/>
          </a:xfrm>
          <a:prstGeom prst="rect">
            <a:avLst/>
          </a:prstGeom>
        </p:spPr>
      </p:pic>
      <p:sp>
        <p:nvSpPr>
          <p:cNvPr id="9" name="Caption Fig 5"/>
          <p:cNvSpPr txBox="1"/>
          <p:nvPr/>
        </p:nvSpPr>
        <p:spPr>
          <a:xfrm>
            <a:off x="3840480" y="5806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5. </a:t>
            </a:r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Inside BMS: supervisor and balancing logic.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SOC-Based Control Law and BMS Supervisor</a:t>
            </a:r>
            <a:endParaRPr lang="en-US" sz="3000" dirty="0"/>
          </a:p>
        </p:txBody>
      </p:sp>
      <p:sp>
        <p:nvSpPr>
          <p:cNvPr id="3" name="Mode 0"/>
          <p:cNvSpPr/>
          <p:nvPr/>
        </p:nvSpPr>
        <p:spPr>
          <a:xfrm>
            <a:off x="548640" y="1234440"/>
            <a:ext cx="210312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CHARGE</a:t>
            </a:r>
            <a:endParaRPr lang="en-US" sz="1400" dirty="0"/>
          </a:p>
        </p:txBody>
      </p:sp>
      <p:sp>
        <p:nvSpPr>
          <p:cNvPr id="4" name="Mode detail 0"/>
          <p:cNvSpPr/>
          <p:nvPr/>
        </p:nvSpPr>
        <p:spPr>
          <a:xfrm>
            <a:off x="548640" y="169164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+1.25 A, 90 min</a:t>
            </a:r>
            <a:endParaRPr lang="en-US" sz="1200" dirty="0"/>
          </a:p>
        </p:txBody>
      </p:sp>
      <p:sp>
        <p:nvSpPr>
          <p:cNvPr id="5" name="Text"/>
          <p:cNvSpPr txBox="1"/>
          <p:nvPr/>
        </p:nvSpPr>
        <p:spPr>
          <a:xfrm>
            <a:off x="54864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Balancing ON</a:t>
            </a:r>
            <a:endParaRPr lang="en-US" sz="1200" dirty="0"/>
          </a:p>
        </p:txBody>
      </p:sp>
      <p:sp>
        <p:nvSpPr>
          <p:cNvPr id="6" name="Arrow"/>
          <p:cNvSpPr/>
          <p:nvPr/>
        </p:nvSpPr>
        <p:spPr>
          <a:xfrm>
            <a:off x="2651760" y="1463040"/>
            <a:ext cx="73152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7" name="Mode 1"/>
          <p:cNvSpPr/>
          <p:nvPr/>
        </p:nvSpPr>
        <p:spPr>
          <a:xfrm>
            <a:off x="3383280" y="1234440"/>
            <a:ext cx="210312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REST</a:t>
            </a:r>
            <a:endParaRPr lang="en-US" sz="1400" dirty="0"/>
          </a:p>
        </p:txBody>
      </p:sp>
      <p:sp>
        <p:nvSpPr>
          <p:cNvPr id="8" name="Mode detail 1"/>
          <p:cNvSpPr/>
          <p:nvPr/>
        </p:nvSpPr>
        <p:spPr>
          <a:xfrm>
            <a:off x="3383280" y="169164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0 A, 20 min</a:t>
            </a:r>
            <a:endParaRPr lang="en-US" sz="1200" dirty="0"/>
          </a:p>
        </p:txBody>
      </p:sp>
      <p:sp>
        <p:nvSpPr>
          <p:cNvPr id="9" name="Text"/>
          <p:cNvSpPr txBox="1"/>
          <p:nvPr/>
        </p:nvSpPr>
        <p:spPr>
          <a:xfrm>
            <a:off x="338328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Balancing ON</a:t>
            </a:r>
            <a:endParaRPr lang="en-US" sz="1200" dirty="0"/>
          </a:p>
        </p:txBody>
      </p:sp>
      <p:sp>
        <p:nvSpPr>
          <p:cNvPr id="10" name="Arrow"/>
          <p:cNvSpPr/>
          <p:nvPr/>
        </p:nvSpPr>
        <p:spPr>
          <a:xfrm>
            <a:off x="5486400" y="1463040"/>
            <a:ext cx="73152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1" name="Mode 2"/>
          <p:cNvSpPr/>
          <p:nvPr/>
        </p:nvSpPr>
        <p:spPr>
          <a:xfrm>
            <a:off x="6217920" y="1234440"/>
            <a:ext cx="210312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DISCHARGE</a:t>
            </a:r>
            <a:endParaRPr lang="en-US" sz="1400" dirty="0"/>
          </a:p>
        </p:txBody>
      </p:sp>
      <p:sp>
        <p:nvSpPr>
          <p:cNvPr id="12" name="Mode detail 2"/>
          <p:cNvSpPr/>
          <p:nvPr/>
        </p:nvSpPr>
        <p:spPr>
          <a:xfrm>
            <a:off x="6217920" y="169164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−1.25 A, 40 min</a:t>
            </a:r>
            <a:endParaRPr lang="en-US" sz="1200" dirty="0"/>
          </a:p>
        </p:txBody>
      </p:sp>
      <p:sp>
        <p:nvSpPr>
          <p:cNvPr id="13" name="Text"/>
          <p:cNvSpPr txBox="1"/>
          <p:nvPr/>
        </p:nvSpPr>
        <p:spPr>
          <a:xfrm>
            <a:off x="621792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Balancing OFF</a:t>
            </a:r>
            <a:endParaRPr lang="en-US" sz="1200" dirty="0"/>
          </a:p>
        </p:txBody>
      </p:sp>
      <p:sp>
        <p:nvSpPr>
          <p:cNvPr id="14" name="Arrow"/>
          <p:cNvSpPr/>
          <p:nvPr/>
        </p:nvSpPr>
        <p:spPr>
          <a:xfrm>
            <a:off x="8321040" y="1463040"/>
            <a:ext cx="73152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5" name="Mode 3"/>
          <p:cNvSpPr/>
          <p:nvPr/>
        </p:nvSpPr>
        <p:spPr>
          <a:xfrm>
            <a:off x="9052560" y="1234440"/>
            <a:ext cx="210312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REST</a:t>
            </a:r>
            <a:endParaRPr lang="en-US" sz="1400" dirty="0"/>
          </a:p>
        </p:txBody>
      </p:sp>
      <p:sp>
        <p:nvSpPr>
          <p:cNvPr id="16" name="Mode detail 3"/>
          <p:cNvSpPr/>
          <p:nvPr/>
        </p:nvSpPr>
        <p:spPr>
          <a:xfrm>
            <a:off x="9052560" y="169164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0 A, 10 min</a:t>
            </a:r>
            <a:endParaRPr lang="en-US" sz="1200" dirty="0"/>
          </a:p>
        </p:txBody>
      </p:sp>
      <p:sp>
        <p:nvSpPr>
          <p:cNvPr id="17" name="Text"/>
          <p:cNvSpPr txBox="1"/>
          <p:nvPr/>
        </p:nvSpPr>
        <p:spPr>
          <a:xfrm>
            <a:off x="905256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Balancing ON</a:t>
            </a:r>
            <a:endParaRPr lang="en-US" sz="1200" dirty="0"/>
          </a:p>
        </p:txBody>
      </p:sp>
      <p:sp>
        <p:nvSpPr>
          <p:cNvPr id="18" name="Text"/>
          <p:cNvSpPr txBox="1"/>
          <p:nvPr/>
        </p:nvSpPr>
        <p:spPr>
          <a:xfrm>
            <a:off x="548640" y="2560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Supervisor cycle repeats; charge stops at V_max ≥ 4.20 V and resumes below 4.15 V; discharge also ends at V_min ≤ 3.0 V.</a:t>
            </a:r>
            <a:endParaRPr lang="en-US" sz="1200" dirty="0"/>
          </a:p>
        </p:txBody>
      </p:sp>
      <p:sp>
        <p:nvSpPr>
          <p:cNvPr id="19" name="Equation"/>
          <p:cNvSpPr txBox="1"/>
          <p:nvPr/>
        </p:nvSpPr>
        <p:spPr>
          <a:xfrm>
            <a:off x="548640" y="3200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ΔSOCₖ = SOCₖ − minⱼ(SOCⱼ)</a:t>
            </a:r>
            <a:endParaRPr lang="en-US" sz="1900" dirty="0"/>
          </a:p>
        </p:txBody>
      </p:sp>
      <p:sp>
        <p:nvSpPr>
          <p:cNvPr id="20" name="Text"/>
          <p:cNvSpPr txBox="1"/>
          <p:nvPr/>
        </p:nvSpPr>
        <p:spPr>
          <a:xfrm>
            <a:off x="548640" y="37490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Sₖ → ON   if ΔSOCₖ &gt; 1.0 %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Sₖ → OFF  if ΔSOCₖ &lt; 0.5 %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unchanged in between (hysteresis)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 while the supervisor allows balancing</a:t>
            </a:r>
            <a:endParaRPr lang="en-US" sz="1400" dirty="0"/>
          </a:p>
        </p:txBody>
      </p:sp>
      <p:sp>
        <p:nvSpPr>
          <p:cNvPr id="21" name="Body text"/>
          <p:cNvSpPr txBox="1"/>
          <p:nvPr/>
        </p:nvSpPr>
        <p:spPr>
          <a:xfrm>
            <a:off x="6583680" y="320040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Lowest-SOC cell is the reference; only higher cells are bled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Hysteresis prevents switch chatter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Decision uses SOC, so load current does not corrupt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Balancing blocked in DISCHARGE: it would waste energy twice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MATLAB Function supervisor, 1 s; Simscape Passive Cell Balancing block [5]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A: Identical Cells</a:t>
            </a:r>
            <a:endParaRPr lang="en-US" sz="3000" dirty="0"/>
          </a:p>
        </p:txBody>
      </p:sp>
      <p:pic>
        <p:nvPicPr>
          <p:cNvPr id="3" name="Result identical cells" descr="Result identical cel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888" y="1143000"/>
            <a:ext cx="5013664" cy="4937760"/>
          </a:xfrm>
          <a:prstGeom prst="rect">
            <a:avLst/>
          </a:prstGeom>
        </p:spPr>
      </p:pic>
      <p:sp>
        <p:nvSpPr>
          <p:cNvPr id="4" name="Caption Fig 6"/>
          <p:cNvSpPr txBox="1"/>
          <p:nvPr/>
        </p:nvSpPr>
        <p:spPr>
          <a:xfrm>
            <a:off x="548640" y="610819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6. </a:t>
            </a:r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SOC, spread, bleed commands, voltage/current, mode.</a:t>
            </a:r>
            <a:endParaRPr lang="en-US" sz="1100" dirty="0"/>
          </a:p>
        </p:txBody>
      </p:sp>
      <p:sp>
        <p:nvSpPr>
          <p:cNvPr id="5" name="Text"/>
          <p:cNvSpPr txBox="1"/>
          <p:nvPr/>
        </p:nvSpPr>
        <p:spPr>
          <a:xfrm>
            <a:off x="6766560" y="1280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SOC₀ = 0.80 / 0.75 / 0.75;  Q = 2.5 / 2.5 / 2.5 Ah;  R₀ scale = 1 / 1 / 1</a:t>
            </a:r>
            <a:endParaRPr lang="en-US" sz="1300" dirty="0"/>
          </a:p>
        </p:txBody>
      </p:sp>
      <p:sp>
        <p:nvSpPr>
          <p:cNvPr id="6" name="Body text"/>
          <p:cNvSpPr txBox="1"/>
          <p:nvPr/>
        </p:nvSpPr>
        <p:spPr>
          <a:xfrm>
            <a:off x="6766560" y="1920240"/>
            <a:ext cx="4846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SOC spread falls from 5.0 % to below 1 % in 68.1 min, during the first charge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Only Cell 1 (highest SOC) is bled: 76.6 min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Dissipated energy 1680 J (0.47 Wh), 1.7 % of pack energy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Spread settles at 0.5 %, the hysteresis OFF threshold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Identical cells drift together, so no new imbalance after discharge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B: Capacity and Resistance Mismatch</a:t>
            </a:r>
            <a:endParaRPr lang="en-US" sz="3000" dirty="0"/>
          </a:p>
        </p:txBody>
      </p:sp>
      <p:pic>
        <p:nvPicPr>
          <p:cNvPr id="3" name="Result mismatched cells" descr="Result mismatched cel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288" y="1143000"/>
            <a:ext cx="5013664" cy="4937760"/>
          </a:xfrm>
          <a:prstGeom prst="rect">
            <a:avLst/>
          </a:prstGeom>
        </p:spPr>
      </p:pic>
      <p:sp>
        <p:nvSpPr>
          <p:cNvPr id="4" name="Caption Fig 7"/>
          <p:cNvSpPr txBox="1"/>
          <p:nvPr/>
        </p:nvSpPr>
        <p:spPr>
          <a:xfrm>
            <a:off x="548640" y="610819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7. </a:t>
            </a:r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 = 2.5 / 2.3 / 2.5 Ah;  R₀ scale = 1 / 1 / 1.5.</a:t>
            </a:r>
            <a:endParaRPr lang="en-US" sz="1100" dirty="0"/>
          </a:p>
        </p:txBody>
      </p:sp>
      <p:sp>
        <p:nvSpPr>
          <p:cNvPr id="5" name="Caption Table 3"/>
          <p:cNvSpPr txBox="1"/>
          <p:nvPr/>
        </p:nvSpPr>
        <p:spPr>
          <a:xfrm>
            <a:off x="6309360" y="11430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TABLE III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CASE A VS. CASE B, ONE 240 MIN CYCLE</a:t>
            </a:r>
            <a:endParaRPr lang="en-US" sz="1100" dirty="0"/>
          </a:p>
        </p:txBody>
      </p:sp>
      <p:graphicFrame>
        <p:nvGraphicFramePr>
          <p:cNvPr id="10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691640"/>
          <a:ext cx="53035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417320"/>
                <a:gridCol w="160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A: identical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B: mismatch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to spread &lt; 1 %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68.1 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68.1 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Peak spread after discharge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0.5 %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Bleed time C1 / C2 / C3 (min)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76.6 / 0 / 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/ 39.6 / 19.6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Energy dissipated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1680 J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3374 J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of pack energy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 spread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Body text"/>
          <p:cNvSpPr txBox="1"/>
          <p:nvPr/>
        </p:nvSpPr>
        <p:spPr>
          <a:xfrm>
            <a:off x="6309360" y="411480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2.3 Ah cell empties faster in discharge; spread rebounds to 2.8 %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Balancing in rest and charge restores 0.5 %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Mismatch does not slow first convergence but doubles the heat lost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Imbalance is regenerated every cycle: balancing is continuous work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Monte Carlo Study: Sampling Logic</a:t>
            </a:r>
            <a:endParaRPr lang="en-US" sz="3000" dirty="0"/>
          </a:p>
        </p:txBody>
      </p:sp>
      <p:sp>
        <p:nvSpPr>
          <p:cNvPr id="3" name="Text"/>
          <p:cNvSpPr txBox="1"/>
          <p:nvPr/>
        </p:nvSpPr>
        <p:spPr>
          <a:xfrm>
            <a:off x="548640" y="11887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Why: two hand-picked cases show one pack. Real packs have random cell-to-cell spread, so we ask how the result is distributed over many packs.</a:t>
            </a:r>
            <a:endParaRPr lang="en-US" sz="1500" dirty="0"/>
          </a:p>
        </p:txBody>
      </p:sp>
      <p:sp>
        <p:nvSpPr>
          <p:cNvPr id="4" name="Caption Table 4"/>
          <p:cNvSpPr txBox="1"/>
          <p:nvPr/>
        </p:nvSpPr>
        <p:spPr>
          <a:xfrm>
            <a:off x="548640" y="19202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TABLE IV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RANDOM INPUTS OF EACH PACK (3 CELLS, DRAWN INDEPENDENTLY)</a:t>
            </a:r>
            <a:endParaRPr lang="en-US" sz="1100" dirty="0"/>
          </a:p>
        </p:txBody>
      </p:sp>
      <p:graphicFrame>
        <p:nvGraphicFramePr>
          <p:cNvPr id="1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69494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Rationale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Capacity Q_k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Normal, mean 2.5 Ah, σ = 2 %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Literature: mostly within ±5 % (≈ 2.5σ)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R₀ multiplier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Normal, mean 1, σ = 10 %, floor 0.5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Reported spread ±3 % to ±30 %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Initial SOC_k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[0.80 0.75 0.75] + N(0, 2 pts), clipped 0.30-0.95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Keeps the imbalance case, varies 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"/>
          <p:cNvSpPr txBox="1"/>
          <p:nvPr/>
        </p:nvSpPr>
        <p:spPr>
          <a:xfrm>
            <a:off x="7863840" y="1920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Procedure</a:t>
            </a:r>
            <a:endParaRPr lang="en-US" sz="1600" dirty="0"/>
          </a:p>
        </p:txBody>
      </p:sp>
      <p:sp>
        <p:nvSpPr>
          <p:cNvPr id="7" name="MC step 1"/>
          <p:cNvSpPr/>
          <p:nvPr/>
        </p:nvSpPr>
        <p:spPr>
          <a:xfrm>
            <a:off x="7863840" y="2331720"/>
            <a:ext cx="3749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Fixed seed rng(42): same 200 packs every run</a:t>
            </a:r>
            <a:endParaRPr lang="en-US" sz="1100" dirty="0"/>
          </a:p>
        </p:txBody>
      </p:sp>
      <p:sp>
        <p:nvSpPr>
          <p:cNvPr id="8" name="MC step 2"/>
          <p:cNvSpPr/>
          <p:nvPr/>
        </p:nvSpPr>
        <p:spPr>
          <a:xfrm>
            <a:off x="7863840" y="3044952"/>
            <a:ext cx="3749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One SimulationInput per pack via setVariable (Cap, R0_scale, SOC0)</a:t>
            </a:r>
            <a:endParaRPr lang="en-US" sz="1100" dirty="0"/>
          </a:p>
        </p:txBody>
      </p:sp>
      <p:sp>
        <p:nvSpPr>
          <p:cNvPr id="9" name="MC step 3"/>
          <p:cNvSpPr/>
          <p:nvPr/>
        </p:nvSpPr>
        <p:spPr>
          <a:xfrm>
            <a:off x="7863840" y="3758184"/>
            <a:ext cx="3749040" cy="548640"/>
          </a:xfrm>
          <a:prstGeom prst="rect">
            <a:avLst/>
          </a:prstGeom>
          <a:solidFill>
            <a:srgbClr val="DCEAF3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parsim on 4 workers (Parallel Computing Toolbox): ≈ 6 min for 200 runs</a:t>
            </a:r>
            <a:endParaRPr lang="en-US" sz="1100" dirty="0"/>
          </a:p>
        </p:txBody>
      </p:sp>
      <p:sp>
        <p:nvSpPr>
          <p:cNvPr id="10" name="MC step 4"/>
          <p:cNvSpPr/>
          <p:nvPr/>
        </p:nvSpPr>
        <p:spPr>
          <a:xfrm>
            <a:off x="7863840" y="4471416"/>
            <a:ext cx="3749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Metrics extracted from logged signals of each run</a:t>
            </a:r>
            <a:endParaRPr lang="en-US" sz="1100" dirty="0"/>
          </a:p>
        </p:txBody>
      </p:sp>
      <p:sp>
        <p:nvSpPr>
          <p:cNvPr id="11" name="MC step 5"/>
          <p:cNvSpPr/>
          <p:nvPr/>
        </p:nvSpPr>
        <p:spPr>
          <a:xfrm>
            <a:off x="7863840" y="5184648"/>
            <a:ext cx="3749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Statistics: mean, σ, 95th percentile, worst case</a:t>
            </a:r>
            <a:endParaRPr lang="en-US" sz="1100" dirty="0"/>
          </a:p>
        </p:txBody>
      </p:sp>
      <p:sp>
        <p:nvSpPr>
          <p:cNvPr id="12" name="Body text"/>
          <p:cNvSpPr txBox="1"/>
          <p:nvPr/>
        </p:nvSpPr>
        <p:spPr>
          <a:xfrm>
            <a:off x="548640" y="416052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Same model and control law as Cases A and B; nothing in the model was changed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Normal rather than uniform: cells cluster near nominal, extremes are rare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Metrics: time to spread &lt; 1 %, peak and final spread, bleed time, bleed energy, usable capacity (min Q)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Monte Carlo Results: Distributions over 200 Packs</a:t>
            </a:r>
            <a:endParaRPr lang="en-US" sz="3000" dirty="0"/>
          </a:p>
        </p:txBody>
      </p:sp>
      <p:pic>
        <p:nvPicPr>
          <p:cNvPr id="3" name="MC histograms" descr="MC histogram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310" y="1188720"/>
            <a:ext cx="6695220" cy="4572000"/>
          </a:xfrm>
          <a:prstGeom prst="rect">
            <a:avLst/>
          </a:prstGeom>
        </p:spPr>
      </p:pic>
      <p:sp>
        <p:nvSpPr>
          <p:cNvPr id="4" name="Caption Fig 8"/>
          <p:cNvSpPr txBox="1"/>
          <p:nvPr/>
        </p:nvSpPr>
        <p:spPr>
          <a:xfrm>
            <a:off x="548640" y="58064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8. </a:t>
            </a:r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Histograms (red line = mean).</a:t>
            </a:r>
            <a:endParaRPr lang="en-US" sz="1100" dirty="0"/>
          </a:p>
        </p:txBody>
      </p:sp>
      <p:sp>
        <p:nvSpPr>
          <p:cNvPr id="5" name="Caption Table 5"/>
          <p:cNvSpPr txBox="1"/>
          <p:nvPr/>
        </p:nvSpPr>
        <p:spPr>
          <a:xfrm>
            <a:off x="7589520" y="1143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TABLE V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SUMMARY STATISTICS, N = 200</a:t>
            </a:r>
            <a:endParaRPr lang="en-US" sz="1100" dirty="0"/>
          </a:p>
        </p:txBody>
      </p:sp>
      <p:graphicFrame>
        <p:nvGraphicFramePr>
          <p:cNvPr id="12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691640"/>
          <a:ext cx="4023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822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± 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P95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to &lt; 1 % (min)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 ± 42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Peak spread (%)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 ± 2.4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 spread (%)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 ± 0.16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Bleed energy (J)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3040 ± 1260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Bleed / pack energy (%)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 ± 1.3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Usable capacity (Ah)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2.45 ± 0.04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Body text"/>
          <p:cNvSpPr txBox="1"/>
          <p:nvPr/>
        </p:nvSpPr>
        <p:spPr>
          <a:xfrm>
            <a:off x="7589520" y="411480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All 200 packs end below 1 % spread (max 1.0 %)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Bleed cost varies widely: up to 7.6 % of pack energy (worst pack)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Weakest cell cuts usable capacity to 2.34-2.55 Ah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Monte Carlo: What Drives the Result?</a:t>
            </a:r>
            <a:endParaRPr lang="en-US" sz="3000" dirty="0"/>
          </a:p>
        </p:txBody>
      </p:sp>
      <p:pic>
        <p:nvPicPr>
          <p:cNvPr id="3" name="MC drivers" descr="MC driv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4132" y="1188720"/>
            <a:ext cx="7413255" cy="3566160"/>
          </a:xfrm>
          <a:prstGeom prst="rect">
            <a:avLst/>
          </a:prstGeom>
        </p:spPr>
      </p:pic>
      <p:sp>
        <p:nvSpPr>
          <p:cNvPr id="4" name="Caption Fig 9"/>
          <p:cNvSpPr txBox="1"/>
          <p:nvPr/>
        </p:nvSpPr>
        <p:spPr>
          <a:xfrm>
            <a:off x="548640" y="4800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9. </a:t>
            </a:r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Each dot is one random pack.</a:t>
            </a:r>
            <a:endParaRPr lang="en-US" sz="1100" dirty="0"/>
          </a:p>
        </p:txBody>
      </p:sp>
      <p:sp>
        <p:nvSpPr>
          <p:cNvPr id="5" name="Body text"/>
          <p:cNvSpPr txBox="1"/>
          <p:nvPr/>
        </p:nvSpPr>
        <p:spPr>
          <a:xfrm>
            <a:off x="548640" y="507492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Time to balance rises almost linearly with the initial SOC spread (≈ 16 min per SOC point): the bleed current of 88 mA sets the speed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Peak spread is set mainly by the starting imbalance; capacity spread has little effect on 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Bleed energy shows a weak upward trend with capacity spread; at σ = 2 % the initial SOC offset still dominates, so a larger σ_cap would be the next sensitivity test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Conclusion, Future Work and References</a:t>
            </a:r>
            <a:endParaRPr lang="en-US" sz="3000" dirty="0"/>
          </a:p>
        </p:txBody>
      </p:sp>
      <p:sp>
        <p:nvSpPr>
          <p:cNvPr id="3" name="Body text"/>
          <p:cNvSpPr txBox="1"/>
          <p:nvPr/>
        </p:nvSpPr>
        <p:spPr>
          <a:xfrm>
            <a:off x="548640" y="123444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3S pack (11.1 V, 2.5 Ah, 27.75 Wh) with per-cell passive balancing modelled and validated (cell error ≤ 0.6 mV)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SOC-based rule with hysteresis and a mode supervisor cut the spread from 5 % to 0.5 %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Mismatch doubles dissipated energy (0.47 → 0.94 Wh per cycle)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Monte Carlo (200 packs): all packs balanced; heat cost 3.1 ± 1.3 % of pack energy, up to 7.6 %</a:t>
            </a:r>
            <a:endParaRPr lang="en-US" sz="1400" dirty="0"/>
          </a:p>
        </p:txBody>
      </p:sp>
      <p:sp>
        <p:nvSpPr>
          <p:cNvPr id="4" name="Caption Table 6"/>
          <p:cNvSpPr txBox="1"/>
          <p:nvPr/>
        </p:nvSpPr>
        <p:spPr>
          <a:xfrm>
            <a:off x="6766560" y="1143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TABLE VI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LIMITATIONS AND FUTURE WORK</a:t>
            </a:r>
            <a:endParaRPr lang="en-US" sz="1100" dirty="0"/>
          </a:p>
        </p:txBody>
      </p:sp>
      <p:graphicFrame>
        <p:nvGraphicFramePr>
          <p:cNvPr id="14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691640"/>
          <a:ext cx="48463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step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 SOC used by BMS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Coulomb counting, then EKF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voltage-trigger baseline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Switchable voltage rule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Electrical model only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Thermal 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Heat dissipated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balancing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"/>
          <p:cNvSpPr txBox="1"/>
          <p:nvPr/>
        </p:nvSpPr>
        <p:spPr>
          <a:xfrm>
            <a:off x="548640" y="3794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AI use disclosure.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Claude (Anthropic) [6] assisted with MATLAB/Simulink scripting, the Monte Carlo script, literature lookup and drafting of this presentation. The authors ran and checked the simulations and take responsibility for all content.</a:t>
            </a:r>
            <a:endParaRPr lang="en-US" sz="1200" dirty="0"/>
          </a:p>
        </p:txBody>
      </p:sp>
      <p:sp>
        <p:nvSpPr>
          <p:cNvPr id="7" name="Text"/>
          <p:cNvSpPr txBox="1"/>
          <p:nvPr/>
        </p:nvSpPr>
        <p:spPr>
          <a:xfrm>
            <a:off x="548640" y="457200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[1] Texas Instruments, "Cell balancing with BQ769x2 battery monitors," App. Note SLUAA81.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[2] "Cell balancing paradigms: advanced types, algorithms, and optimization frameworks," arXiv:2411.05478, 2024.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[3] "A deeper look into active balancing on BMS, Part 1," Embedded Computing Design.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[4] "SOC estimation for onboard LiFePO4 batteries with adaptive state update in specific OCV ranges," Applied Energy, 2023.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[5] The MathWorks, Inc., "Simscape Battery: Battery (Table-Based) and Passive Cell Balancing," MATLAB R2025b doc., 2025.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[6] Anthropic, "Claude" [Large language model], 2026. [Online]. Available: https://claude.ai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EEE Plain">
  <a:themeElements>
    <a:clrScheme name="IEEE Plain">
      <a:dk1>
        <a:srgbClr val="000000"/>
      </a:dk1>
      <a:lt1>
        <a:srgbClr val="FFFFFF"/>
      </a:lt1>
      <a:dk2>
        <a:srgbClr val="1F1F1F"/>
      </a:dk2>
      <a:lt2>
        <a:srgbClr val="F2F2F2"/>
      </a:lt2>
      <a:accent1>
        <a:srgbClr val="00629B"/>
      </a:accent1>
      <a:accent2>
        <a:srgbClr val="595959"/>
      </a:accent2>
      <a:accent3>
        <a:srgbClr val="A6A6A6"/>
      </a:accent3>
      <a:accent4>
        <a:srgbClr val="7F7F7F"/>
      </a:accent4>
      <a:accent5>
        <a:srgbClr val="BFBFBF"/>
      </a:accent5>
      <a:accent6>
        <a:srgbClr val="D9D9D9"/>
      </a:accent6>
      <a:hlink>
        <a:srgbClr val="00629B"/>
      </a:hlink>
      <a:folHlink>
        <a:srgbClr val="595959"/>
      </a:folHlink>
    </a:clrScheme>
    <a:fontScheme name="IEEE Plain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SOC-Based Passive Cell Balancing with Monte Carlo Analysis</dc:title>
  <dc:subject>PptxGenJS Presentation</dc:subject>
  <dc:creator>ESS-EV Mini Project Group</dc:creator>
  <cp:lastModifiedBy>ESS-EV Mini Project Group</cp:lastModifiedBy>
  <cp:revision>1</cp:revision>
  <dcterms:created xsi:type="dcterms:W3CDTF">2026-10-12T01:30:04Z</dcterms:created>
  <dcterms:modified xsi:type="dcterms:W3CDTF">2026-10-12T01:30:04Z</dcterms:modified>
</cp:coreProperties>
</file>