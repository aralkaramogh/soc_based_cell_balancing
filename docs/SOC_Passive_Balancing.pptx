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682e4488-30fc-1761-7421-99f71a20071f}">
          <p14:sldIdLst>
            <p14:sldId id="256"/>
          </p14:sldIdLst>
        </p14:section>
        <p14:section name="Introduction" id="{395212ce-2a4b-f26c-ff7f-3bb80c3c9c86}">
          <p14:sldIdLst>
            <p14:sldId id="257"/>
            <p14:sldId id="258"/>
            <p14:sldId id="259"/>
          </p14:sldIdLst>
        </p14:section>
        <p14:section name="Problem" id="{064591fe-64f0-bf43-6eda-7d5733ce6c12}">
          <p14:sldIdLst>
            <p14:sldId id="260"/>
          </p14:sldIdLst>
        </p14:section>
        <p14:section name="Objectives" id="{04c019eb-8f32-8969-2af9-f1126cce6caf}">
          <p14:sldIdLst>
            <p14:sldId id="261"/>
            <p14:sldId id="262"/>
          </p14:sldIdLst>
        </p14:section>
        <p14:section name="Modelling" id="{972167a4-4272-5f84-04e9-6e0416e1fc1c}">
          <p14:sldIdLst>
            <p14:sldId id="263"/>
            <p14:sldId id="264"/>
          </p14:sldIdLst>
        </p14:section>
        <p14:section name="Architecture" id="{6d0f21bc-75ec-68ff-8603-a06632d1fcbc}">
          <p14:sldIdLst>
            <p14:sldId id="265"/>
            <p14:sldId id="266"/>
            <p14:sldId id="267"/>
          </p14:sldIdLst>
        </p14:section>
        <p14:section name="Control" id="{0b8cd41c-36ec-0871-f55a-e753b52be04e}">
          <p14:sldIdLst>
            <p14:sldId id="268"/>
            <p14:sldId id="269"/>
          </p14:sldIdLst>
        </p14:section>
        <p14:section name="Results" id="{d3fff8a7-97d7-9d08-d83f-3939e21cf5e2}">
          <p14:sldIdLst>
            <p14:sldId id="270"/>
            <p14:sldId id="271"/>
            <p14:sldId id="272"/>
          </p14:sldIdLst>
        </p14:section>
        <p14:section name="Discussion" id="{2820e78f-6062-fa07-ef95-c3f52f1670f2}">
          <p14:sldIdLst>
            <p14:sldId id="273"/>
            <p14:sldId id="274"/>
          </p14:sldIdLst>
        </p14:section>
        <p14:section name="Conclusion" id="{9b418fa9-51fb-8b23-cea0-186a9d2baf4e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topic: a simulation study of passive cell balancing driven by state of charge rather than voltage.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structure. The right-hand chain is the method in the order it was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Series connection is why imbalance matters: the pack can only deliver what its weakest cell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Passive balancing is simple and cheap but wastes energy; active balancing is efficient but complex. We study passive.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motivation. SOC is constant during the rest period, but the voltage recovers by 0.2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what is and is not covered so that the results are read in the right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 capacity equals the cell capacity because the cells are in series. The mismatch case lowers it to the weakest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 by Coulomb counting, OCV from a lookup table, instantaneous drop across R0 and slow recovery from the RC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equations were implemented three ways. The library block reproduces our hand-derived model, so it is trusted for the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Incremental development: one feature per iteration. The flat model in iteration 4 became unreadable.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was reorganised into Cell, Charger and BMS subsystems. This made the model readable and easy to extend with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Cell subsystem is masked, so its initial SOC and capacity are visible on the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turns on above 1 percent difference from the lowest cell and off below 0.5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supervisor sets the pack current and whether balancing is allowed. Balancing is disabled while discharging.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identical cells only the initial SOC offset has to be removed. One cell bleeds and the pack converges within one 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realistic case. Capacity mismatch recreates imbalance every discharge, and passive balancing pays for it in heat.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 the rows. The main difference is energy: mismatch doubles the heat lost per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the numbers mean for a real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simplification is the use of true SOC. Estimation with an EKF is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result and how the work maps to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SOC-Based Passive Cell Balancing  |  Energy Storage Systems for EV (7EL304)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SOC-Based Passive Cell Balancing for a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Series-Connected Li-ion Battery Pack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Project, Energy Storage Systems for Electric Vehicles (7EL304)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Group of 5 (names)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by: (faculty name)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Electrical Engineering  | 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822960" y="13716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I. Introduction and motivation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II. Problem statement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III. Objectives and system specification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IV. Cell modelling and validation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V. Pack model architecture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VI. Balancing control law and BMS supervisor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VII. Simulation results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VIII. Discussion, limitations and future work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IX. Conclusion</a:t>
            </a:r>
            <a:endParaRPr lang="en-US" sz="1800" dirty="0"/>
          </a:p>
        </p:txBody>
      </p:sp>
      <p:sp>
        <p:nvSpPr>
          <p:cNvPr id="4" name="Flow step 1"/>
          <p:cNvSpPr/>
          <p:nvPr/>
        </p:nvSpPr>
        <p:spPr>
          <a:xfrm>
            <a:off x="7315200" y="137160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Cell model (ECM)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9144000" y="1874520"/>
            <a:ext cx="914" cy="27432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" name="Flow step 2"/>
          <p:cNvSpPr/>
          <p:nvPr/>
        </p:nvSpPr>
        <p:spPr>
          <a:xfrm>
            <a:off x="7315200" y="214884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 vs. script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9144000" y="2651760"/>
            <a:ext cx="914" cy="27432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8" name="Flow step 3"/>
          <p:cNvSpPr/>
          <p:nvPr/>
        </p:nvSpPr>
        <p:spPr>
          <a:xfrm>
            <a:off x="7315200" y="292608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3S pack + bleed circuits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9144000" y="3429000"/>
            <a:ext cx="914" cy="27432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0" name="Flow step 4"/>
          <p:cNvSpPr/>
          <p:nvPr/>
        </p:nvSpPr>
        <p:spPr>
          <a:xfrm>
            <a:off x="7315200" y="370332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SOC-based balancing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9144000" y="4206240"/>
            <a:ext cx="914" cy="27432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2" name="Flow step 5"/>
          <p:cNvSpPr/>
          <p:nvPr/>
        </p:nvSpPr>
        <p:spPr>
          <a:xfrm>
            <a:off x="7315200" y="448056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 supervisor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9144000" y="4983480"/>
            <a:ext cx="914" cy="27432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Flow step 6"/>
          <p:cNvSpPr/>
          <p:nvPr/>
        </p:nvSpPr>
        <p:spPr>
          <a:xfrm>
            <a:off x="7315200" y="5257800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Results and metrics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Introduction: Cell Imbalance in Series Packs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48640" y="1280160"/>
            <a:ext cx="6035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 and BESS packs connect many cells in series; the same current flows through every cell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Manufacturing spread in capacity, internal resistance (R0) and self-discharge makes cells drift apart in state of charge (SOC)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weakest cell reaches the upper voltage limit first during charging and the lower limit first during discharging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Consequence: loss of usable pack capacity and accelerated ageing of the weakest cell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Cell balancing equalises SOC so that the full pack capacity remains usable</a:t>
            </a:r>
            <a:endParaRPr lang="en-US" sz="1600" dirty="0"/>
          </a:p>
        </p:txBody>
      </p:sp>
      <p:sp>
        <p:nvSpPr>
          <p:cNvPr id="4" name="Equation"/>
          <p:cNvSpPr txBox="1"/>
          <p:nvPr/>
        </p:nvSpPr>
        <p:spPr>
          <a:xfrm>
            <a:off x="7132320" y="1463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Q_pack = min(Q₁, Q₂, … , Qₙ)</a:t>
            </a:r>
            <a:endParaRPr lang="en-US" sz="2000" dirty="0"/>
          </a:p>
        </p:txBody>
      </p:sp>
      <p:sp>
        <p:nvSpPr>
          <p:cNvPr id="5" name="Equation note"/>
          <p:cNvSpPr txBox="1"/>
          <p:nvPr/>
        </p:nvSpPr>
        <p:spPr>
          <a:xfrm>
            <a:off x="7132320" y="2103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 a series string the usable capacity is bounded by the smallest cell; cells in series add voltage, not ampere-hours.</a:t>
            </a:r>
            <a:endParaRPr lang="en-US" sz="1300" dirty="0"/>
          </a:p>
        </p:txBody>
      </p:sp>
      <p:sp>
        <p:nvSpPr>
          <p:cNvPr id="6" name="Cell 1"/>
          <p:cNvSpPr/>
          <p:nvPr/>
        </p:nvSpPr>
        <p:spPr>
          <a:xfrm>
            <a:off x="7223760" y="3657600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Cell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2.5 Ah</a:t>
            </a:r>
            <a:endParaRPr lang="en-US" sz="1200" dirty="0"/>
          </a:p>
        </p:txBody>
      </p:sp>
      <p:sp>
        <p:nvSpPr>
          <p:cNvPr id="7" name="Wire"/>
          <p:cNvSpPr/>
          <p:nvPr/>
        </p:nvSpPr>
        <p:spPr>
          <a:xfrm>
            <a:off x="8412480" y="4023360"/>
            <a:ext cx="32004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8" name="Cell 2"/>
          <p:cNvSpPr/>
          <p:nvPr/>
        </p:nvSpPr>
        <p:spPr>
          <a:xfrm>
            <a:off x="8732520" y="3657600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Cell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2.5 Ah</a:t>
            </a:r>
            <a:endParaRPr lang="en-US" sz="1200" dirty="0"/>
          </a:p>
        </p:txBody>
      </p:sp>
      <p:sp>
        <p:nvSpPr>
          <p:cNvPr id="9" name="Wire"/>
          <p:cNvSpPr/>
          <p:nvPr/>
        </p:nvSpPr>
        <p:spPr>
          <a:xfrm>
            <a:off x="9921240" y="4023360"/>
            <a:ext cx="32004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0" name="Cell 3"/>
          <p:cNvSpPr/>
          <p:nvPr/>
        </p:nvSpPr>
        <p:spPr>
          <a:xfrm>
            <a:off x="10241280" y="3657600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Cell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2.5 Ah</a:t>
            </a:r>
            <a:endParaRPr lang="en-US" sz="1200" dirty="0"/>
          </a:p>
        </p:txBody>
      </p:sp>
      <p:sp>
        <p:nvSpPr>
          <p:cNvPr id="11" name="Current label"/>
          <p:cNvSpPr txBox="1"/>
          <p:nvPr/>
        </p:nvSpPr>
        <p:spPr>
          <a:xfrm>
            <a:off x="68580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I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6858000" y="4023360"/>
            <a:ext cx="36576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3" name="Caption Fig 1"/>
          <p:cNvSpPr txBox="1"/>
          <p:nvPr/>
        </p:nvSpPr>
        <p:spPr>
          <a:xfrm>
            <a:off x="694944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Series string: identical current, different capacity.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Introduction: Passive and Active Balancing</a:t>
            </a:r>
            <a:endParaRPr lang="en-US" sz="3000" dirty="0"/>
          </a:p>
        </p:txBody>
      </p:sp>
      <p:sp>
        <p:nvSpPr>
          <p:cNvPr id="3" name="Caption Table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COMPARISON OF BALANCING METHODS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Attribute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Passive (dissipative)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(charge transfer)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Excess charge of high-SOC cells dissipated in a bleed resistor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moved from high-SOC to low-SOC cells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 + resistor per cell (often inside the monitor IC)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Capacitors, inductors, transformers or DC-DC converters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efficiency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Low: surplus energy lost as heat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High: surplus energy reused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Balancing current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Low; typically 1-5 % of cell capacity [3]; ~65-96 mA in TI BQ769x2 [1]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Higher; limited by converter rating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/ complexity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Low; widely adopted in commercial BMS [3]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control and component count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cope note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This work uses passive balancing: it is the prevalent industrial method and isolates the effect of the balancing decision rule.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Problem Statement: Terminal Voltage Is a Poor SOC Indicator</a:t>
            </a:r>
            <a:endParaRPr lang="en-US" sz="3000" dirty="0"/>
          </a:p>
        </p:txBody>
      </p:sp>
      <p:pic>
        <p:nvPicPr>
          <p:cNvPr id="3" name="Step 1 single cell plot" descr="Step 1 single cell p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669280" cy="4716038"/>
          </a:xfrm>
          <a:prstGeom prst="rect">
            <a:avLst/>
          </a:prstGeom>
        </p:spPr>
      </p:pic>
      <p:sp>
        <p:nvSpPr>
          <p:cNvPr id="4" name="Caption Fig 2"/>
          <p:cNvSpPr txBox="1"/>
          <p:nvPr/>
        </p:nvSpPr>
        <p:spPr>
          <a:xfrm>
            <a:off x="548640" y="595047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2.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Single-cell pulse test (4 A, 5 min on / 5 min off).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6583680" y="1280160"/>
            <a:ext cx="50292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Conventional balancers trigger on cell voltage differences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Under current, the terminal voltage deviates from OCV(SOC) by the ohmic drop I·R0 and the RC polarisation voltage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At identical SOC the simulated cell reads 3.897 V at the end of a 4 A pulse and 4.097 V after 5 min rest: a 0.20 V error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Voltage-based decisions can therefore bleed the wrong cell or balance unnecessarily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effect is stronger for LFP chemistry, whose flat OCV curve weakens voltage as an SOC proxy [4]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Proposed: base the balancing decision on SOC [2]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Objectives and Scope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48640" y="128016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 a 3S Li-ion pack in MATLAB/Simulink with Simscape Battery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Implement per-cell passive balancing with an SOC-based decision rule and hysteresis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Operate the pack through a supervisory mode cycle: charge, rest, discharge, rest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Evaluate identical cells and cells with capacity and R0 mismatch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Quantify balancing time, dissipated energy and final SOC spread</a:t>
            </a:r>
            <a:endParaRPr lang="en-US" sz="1700" dirty="0"/>
          </a:p>
        </p:txBody>
      </p:sp>
      <p:sp>
        <p:nvSpPr>
          <p:cNvPr id="4" name="Caption Table 2"/>
          <p:cNvSpPr txBox="1"/>
          <p:nvPr/>
        </p:nvSpPr>
        <p:spPr>
          <a:xfrm>
            <a:off x="740664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SCOPE OF THE STUDY</a:t>
            </a:r>
            <a:endParaRPr lang="en-US" sz="11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73736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scope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 of scope (future)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Passive balancing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balancing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(model) SOC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 estimation (CC, EKF)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charging + cut-off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CC-CV charging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System Specification</a:t>
            </a:r>
            <a:endParaRPr lang="en-US" sz="3000" dirty="0"/>
          </a:p>
        </p:txBody>
      </p:sp>
      <p:sp>
        <p:nvSpPr>
          <p:cNvPr id="3" name="Caption Table 3"/>
          <p:cNvSpPr txBox="1"/>
          <p:nvPr/>
        </p:nvSpPr>
        <p:spPr>
          <a:xfrm>
            <a:off x="548640" y="1143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PACK AND SIMULATION PARAMETERS</a:t>
            </a:r>
            <a:endParaRPr lang="en-US" sz="1100" dirty="0"/>
          </a:p>
        </p:txBody>
      </p:sp>
      <p:graphicFrame>
        <p:nvGraphicFramePr>
          <p:cNvPr id="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3S1P (three cells in series)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Li-ion 18650 type, 3.7 V nominal, 2.5 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capacity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voltage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 V nominal (9.0-12.6 V)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energy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27.75 Wh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/ discharge current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 A (0.5C)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cut-off / resume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 V / 4.15 V (highest cell)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Discharge limit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 V (lowest cell)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resistor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 Ω per cell (≈ 88 mA, ≈ 0.37 W)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Balancing ON / OFF threshold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ΔSOC &gt; 1.0 % / &lt; 0.5 %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BMS sample 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Body text"/>
          <p:cNvSpPr txBox="1"/>
          <p:nvPr/>
        </p:nvSpPr>
        <p:spPr>
          <a:xfrm>
            <a:off x="7680960" y="173736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Pack energy: E = 3 × 3.7 V × 2.5 Ah = 27.75 Wh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Bleed current 4.15 V / 47 Ω ≈ 88 mA ≈ 3.5 % of 1C, inside the typical 1-5 % range [3]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Mismatch case: Cell 2 at 2.3 Ah limits usable capacity to 2.3 Ah (≈ 25.5 Wh, -8 %)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Cell Model: First-Order Equivalent Circuit</a:t>
            </a:r>
            <a:endParaRPr lang="en-US" sz="3000" dirty="0"/>
          </a:p>
        </p:txBody>
      </p:sp>
      <p:sp>
        <p:nvSpPr>
          <p:cNvPr id="3" name="OCV source"/>
          <p:cNvSpPr/>
          <p:nvPr/>
        </p:nvSpPr>
        <p:spPr>
          <a:xfrm>
            <a:off x="731520" y="1554480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OCV(SOC)</a:t>
            </a:r>
            <a:endParaRPr lang="en-US" sz="1300" dirty="0"/>
          </a:p>
        </p:txBody>
      </p:sp>
      <p:sp>
        <p:nvSpPr>
          <p:cNvPr id="4" name="Wire"/>
          <p:cNvSpPr/>
          <p:nvPr/>
        </p:nvSpPr>
        <p:spPr>
          <a:xfrm>
            <a:off x="1920240" y="1920240"/>
            <a:ext cx="36576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5" name="R0"/>
          <p:cNvSpPr/>
          <p:nvPr/>
        </p:nvSpPr>
        <p:spPr>
          <a:xfrm>
            <a:off x="2286000" y="169164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R₀</a:t>
            </a:r>
            <a:endParaRPr lang="en-US" sz="1400" dirty="0"/>
          </a:p>
        </p:txBody>
      </p:sp>
      <p:sp>
        <p:nvSpPr>
          <p:cNvPr id="6" name="Wire"/>
          <p:cNvSpPr/>
          <p:nvPr/>
        </p:nvSpPr>
        <p:spPr>
          <a:xfrm>
            <a:off x="3200400" y="1920240"/>
            <a:ext cx="36576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7" name="R1"/>
          <p:cNvSpPr/>
          <p:nvPr/>
        </p:nvSpPr>
        <p:spPr>
          <a:xfrm>
            <a:off x="3566160" y="137160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R₁</a:t>
            </a:r>
            <a:endParaRPr lang="en-US" sz="1400" dirty="0"/>
          </a:p>
        </p:txBody>
      </p:sp>
      <p:sp>
        <p:nvSpPr>
          <p:cNvPr id="8" name="C1"/>
          <p:cNvSpPr/>
          <p:nvPr/>
        </p:nvSpPr>
        <p:spPr>
          <a:xfrm>
            <a:off x="3566160" y="205740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C₁</a:t>
            </a:r>
            <a:endParaRPr lang="en-US" sz="1400" dirty="0"/>
          </a:p>
        </p:txBody>
      </p:sp>
      <p:sp>
        <p:nvSpPr>
          <p:cNvPr id="9" name="Wire"/>
          <p:cNvSpPr/>
          <p:nvPr/>
        </p:nvSpPr>
        <p:spPr>
          <a:xfrm>
            <a:off x="3566160" y="1572768"/>
            <a:ext cx="914" cy="68580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0" name="Wire"/>
          <p:cNvSpPr/>
          <p:nvPr/>
        </p:nvSpPr>
        <p:spPr>
          <a:xfrm>
            <a:off x="4663440" y="1572768"/>
            <a:ext cx="914" cy="68580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1" name="Wire"/>
          <p:cNvSpPr/>
          <p:nvPr/>
        </p:nvSpPr>
        <p:spPr>
          <a:xfrm>
            <a:off x="4663440" y="1920240"/>
            <a:ext cx="45720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2" name="Vt label"/>
          <p:cNvSpPr txBox="1"/>
          <p:nvPr/>
        </p:nvSpPr>
        <p:spPr>
          <a:xfrm>
            <a:off x="5166360" y="1737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+ V_t</a:t>
            </a:r>
            <a:endParaRPr lang="en-US" sz="1400" dirty="0"/>
          </a:p>
        </p:txBody>
      </p:sp>
      <p:sp>
        <p:nvSpPr>
          <p:cNvPr id="13" name="Caption Fig 3"/>
          <p:cNvSpPr txBox="1"/>
          <p:nvPr/>
        </p:nvSpPr>
        <p:spPr>
          <a:xfrm>
            <a:off x="54864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3.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First-order (1-RC) equivalent circuit model.</a:t>
            </a:r>
            <a:endParaRPr lang="en-US" sz="1100" dirty="0"/>
          </a:p>
        </p:txBody>
      </p:sp>
      <p:sp>
        <p:nvSpPr>
          <p:cNvPr id="14" name="Equation"/>
          <p:cNvSpPr txBox="1"/>
          <p:nvPr/>
        </p:nvSpPr>
        <p:spPr>
          <a:xfrm>
            <a:off x="731520" y="3154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SOC(t) = SOC₀ − (1/Q) ∫ I(τ) dτ</a:t>
            </a:r>
            <a:endParaRPr lang="en-US" sz="1800" dirty="0"/>
          </a:p>
        </p:txBody>
      </p:sp>
      <p:sp>
        <p:nvSpPr>
          <p:cNvPr id="15" name="Equation"/>
          <p:cNvSpPr txBox="1"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dV₁/dt = −V₁ /(R₁C₁) + I / C₁</a:t>
            </a:r>
            <a:endParaRPr lang="en-US" sz="1800" dirty="0"/>
          </a:p>
        </p:txBody>
      </p:sp>
      <p:sp>
        <p:nvSpPr>
          <p:cNvPr id="16" name="Equation"/>
          <p:cNvSpPr txBox="1"/>
          <p:nvPr/>
        </p:nvSpPr>
        <p:spPr>
          <a:xfrm>
            <a:off x="7315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V_t = OCV(SOC) − I·R₀ − V₁</a:t>
            </a:r>
            <a:endParaRPr lang="en-US" sz="1800" dirty="0"/>
          </a:p>
        </p:txBody>
      </p:sp>
      <p:sp>
        <p:nvSpPr>
          <p:cNvPr id="17" name="Model parameters"/>
          <p:cNvSpPr txBox="1"/>
          <p:nvPr/>
        </p:nvSpPr>
        <p:spPr>
          <a:xfrm>
            <a:off x="731520" y="4754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 &gt; 0 discharge. Parameters (validation): Q = 2.5 Ah, R₀ = 30 mΩ, R₁ = 20 mΩ, C₁ = 2000 F (τ = 40 s).</a:t>
            </a:r>
            <a:endParaRPr lang="en-US" sz="1300" dirty="0"/>
          </a:p>
        </p:txBody>
      </p:sp>
      <p:pic>
        <p:nvPicPr>
          <p:cNvPr id="18" name="Simulink cell model" descr="Simulink cell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71600"/>
            <a:ext cx="5120640" cy="2328239"/>
          </a:xfrm>
          <a:prstGeom prst="rect">
            <a:avLst/>
          </a:prstGeom>
        </p:spPr>
      </p:pic>
      <p:sp>
        <p:nvSpPr>
          <p:cNvPr id="19" name="Caption Fig 4"/>
          <p:cNvSpPr txBox="1"/>
          <p:nvPr/>
        </p:nvSpPr>
        <p:spPr>
          <a:xfrm>
            <a:off x="6492240" y="3745559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4.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Equivalent circuit implemented with Simulink blocks.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Model Validation Against a Reference Script</a:t>
            </a:r>
            <a:endParaRPr lang="en-US" sz="3000" dirty="0"/>
          </a:p>
        </p:txBody>
      </p:sp>
      <p:pic>
        <p:nvPicPr>
          <p:cNvPr id="3" name="Validation without RC" descr="Validation without R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611880" cy="2669190"/>
          </a:xfrm>
          <a:prstGeom prst="rect">
            <a:avLst/>
          </a:prstGeom>
        </p:spPr>
      </p:pic>
      <p:sp>
        <p:nvSpPr>
          <p:cNvPr id="4" name="Caption Fig 5"/>
          <p:cNvSpPr txBox="1"/>
          <p:nvPr/>
        </p:nvSpPr>
        <p:spPr>
          <a:xfrm>
            <a:off x="548640" y="394935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5.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Simulink, no RC branch.</a:t>
            </a:r>
            <a:endParaRPr lang="en-US" sz="1100" dirty="0"/>
          </a:p>
        </p:txBody>
      </p:sp>
      <p:pic>
        <p:nvPicPr>
          <p:cNvPr id="5" name="Validation with RC" descr="Validation with R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234440"/>
            <a:ext cx="3611880" cy="2669190"/>
          </a:xfrm>
          <a:prstGeom prst="rect">
            <a:avLst/>
          </a:prstGeom>
        </p:spPr>
      </p:pic>
      <p:sp>
        <p:nvSpPr>
          <p:cNvPr id="6" name="Caption Fig 6"/>
          <p:cNvSpPr txBox="1"/>
          <p:nvPr/>
        </p:nvSpPr>
        <p:spPr>
          <a:xfrm>
            <a:off x="4288536" y="394935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6.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Simulink, with RC branch.</a:t>
            </a:r>
            <a:endParaRPr lang="en-US" sz="1100" dirty="0"/>
          </a:p>
        </p:txBody>
      </p:sp>
      <p:pic>
        <p:nvPicPr>
          <p:cNvPr id="7" name="Validation Simscape" descr="Validation Simsca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1234440"/>
            <a:ext cx="3611880" cy="2662129"/>
          </a:xfrm>
          <a:prstGeom prst="rect">
            <a:avLst/>
          </a:prstGeom>
        </p:spPr>
      </p:pic>
      <p:sp>
        <p:nvSpPr>
          <p:cNvPr id="8" name="Caption Fig 7"/>
          <p:cNvSpPr txBox="1"/>
          <p:nvPr/>
        </p:nvSpPr>
        <p:spPr>
          <a:xfrm>
            <a:off x="8028432" y="3942289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7.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Simscape Battery block.</a:t>
            </a:r>
            <a:endParaRPr lang="en-US" sz="1100" dirty="0"/>
          </a:p>
        </p:txBody>
      </p:sp>
      <p:sp>
        <p:nvSpPr>
          <p:cNvPr id="9" name="Caption Table 4"/>
          <p:cNvSpPr txBox="1"/>
          <p:nvPr/>
        </p:nvSpPr>
        <p:spPr>
          <a:xfrm>
            <a:off x="219456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IV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MEAN ABSOLUTE TERMINAL-VOLTAGE ERROR VS. SCRIPT</a:t>
            </a:r>
            <a:endParaRPr lang="en-US" sz="1100" dirty="0"/>
          </a:p>
        </p:txBody>
      </p:sp>
      <p:graphicFrame>
        <p:nvGraphicFramePr>
          <p:cNvPr id="1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4937760"/>
          <a:ext cx="7772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error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without RC branch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0.040 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Polarisation dynamics missing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with RC branch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0.0001 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 reference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Simscape Battery (Table-Based)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0.0006 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 the pack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 Model Development Iterations</a:t>
            </a:r>
            <a:endParaRPr lang="en-US" sz="3000" dirty="0"/>
          </a:p>
        </p:txBody>
      </p:sp>
      <p:pic>
        <p:nvPicPr>
          <p:cNvPr id="3" name="Iteration 1" descr="Iterati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606040" cy="1771748"/>
          </a:xfrm>
          <a:prstGeom prst="rect">
            <a:avLst/>
          </a:prstGeom>
        </p:spPr>
      </p:pic>
      <p:sp>
        <p:nvSpPr>
          <p:cNvPr id="4" name="Frame 1"/>
          <p:cNvSpPr/>
          <p:nvPr/>
        </p:nvSpPr>
        <p:spPr>
          <a:xfrm>
            <a:off x="548640" y="1280160"/>
            <a:ext cx="2606040" cy="1771748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5" name="Caption Fig 8"/>
          <p:cNvSpPr txBox="1"/>
          <p:nvPr/>
        </p:nvSpPr>
        <p:spPr>
          <a:xfrm>
            <a:off x="548640" y="4937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8.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Single cell, MOSFET and resistor.</a:t>
            </a:r>
            <a:endParaRPr lang="en-US" sz="1100" dirty="0"/>
          </a:p>
        </p:txBody>
      </p:sp>
      <p:pic>
        <p:nvPicPr>
          <p:cNvPr id="6" name="Iteration 2" descr="Iterati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80160"/>
            <a:ext cx="2606040" cy="1459595"/>
          </a:xfrm>
          <a:prstGeom prst="rect">
            <a:avLst/>
          </a:prstGeom>
        </p:spPr>
      </p:pic>
      <p:sp>
        <p:nvSpPr>
          <p:cNvPr id="7" name="Frame 2"/>
          <p:cNvSpPr/>
          <p:nvPr/>
        </p:nvSpPr>
        <p:spPr>
          <a:xfrm>
            <a:off x="3383280" y="1280160"/>
            <a:ext cx="2606040" cy="1459595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8" name="Caption Fig 9"/>
          <p:cNvSpPr txBox="1"/>
          <p:nvPr/>
        </p:nvSpPr>
        <p:spPr>
          <a:xfrm>
            <a:off x="3383280" y="4937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9.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3S string with CC charger.</a:t>
            </a:r>
            <a:endParaRPr lang="en-US" sz="1100" dirty="0"/>
          </a:p>
        </p:txBody>
      </p:sp>
      <p:pic>
        <p:nvPicPr>
          <p:cNvPr id="9" name="Iteration 3" descr="Iterati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2606040" cy="2342487"/>
          </a:xfrm>
          <a:prstGeom prst="rect">
            <a:avLst/>
          </a:prstGeom>
        </p:spPr>
      </p:pic>
      <p:sp>
        <p:nvSpPr>
          <p:cNvPr id="10" name="Frame 3"/>
          <p:cNvSpPr/>
          <p:nvPr/>
        </p:nvSpPr>
        <p:spPr>
          <a:xfrm>
            <a:off x="6217920" y="1280160"/>
            <a:ext cx="2606040" cy="2342487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11" name="Caption Fig 10"/>
          <p:cNvSpPr txBox="1"/>
          <p:nvPr/>
        </p:nvSpPr>
        <p:spPr>
          <a:xfrm>
            <a:off x="6217920" y="4937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10.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Voltage sensing and 4.2 V cut-off.</a:t>
            </a:r>
            <a:endParaRPr lang="en-US" sz="1100" dirty="0"/>
          </a:p>
        </p:txBody>
      </p:sp>
      <p:pic>
        <p:nvPicPr>
          <p:cNvPr id="12" name="Iteration 4" descr="Iterati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280160"/>
            <a:ext cx="2606040" cy="3207553"/>
          </a:xfrm>
          <a:prstGeom prst="rect">
            <a:avLst/>
          </a:prstGeom>
        </p:spPr>
      </p:pic>
      <p:sp>
        <p:nvSpPr>
          <p:cNvPr id="13" name="Frame 4"/>
          <p:cNvSpPr/>
          <p:nvPr/>
        </p:nvSpPr>
        <p:spPr>
          <a:xfrm>
            <a:off x="9052560" y="1280160"/>
            <a:ext cx="2606040" cy="3207553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14" name="Caption Fig 11"/>
          <p:cNvSpPr txBox="1"/>
          <p:nvPr/>
        </p:nvSpPr>
        <p:spPr>
          <a:xfrm>
            <a:off x="9052560" y="4937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11.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Bleed circuits: 41-block flat model.</a:t>
            </a:r>
            <a:endParaRPr lang="en-US" sz="1100" dirty="0"/>
          </a:p>
        </p:txBody>
      </p:sp>
      <p:sp>
        <p:nvSpPr>
          <p:cNvPr id="15" name="Iteration summary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iteration added one function and was verified before the next. Iteration 4 worked but its wiring was hard to follow, which motivated the subsystem architecture.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 Final Model Architecture: Subsystem Decomposition</a:t>
            </a:r>
            <a:endParaRPr lang="en-US" sz="3000" dirty="0"/>
          </a:p>
        </p:txBody>
      </p:sp>
      <p:pic>
        <p:nvPicPr>
          <p:cNvPr id="3" name="Final model top level" descr="Final model top le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98080" cy="3732309"/>
          </a:xfrm>
          <a:prstGeom prst="rect">
            <a:avLst/>
          </a:prstGeom>
        </p:spPr>
      </p:pic>
      <p:sp>
        <p:nvSpPr>
          <p:cNvPr id="4" name="Caption Fig 12"/>
          <p:cNvSpPr txBox="1"/>
          <p:nvPr/>
        </p:nvSpPr>
        <p:spPr>
          <a:xfrm>
            <a:off x="548640" y="5012469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12.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Top level of the final model (plant above, BMS below).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8321040" y="1280160"/>
            <a:ext cx="32918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Flat model restructured into subsystems for easier viewing and reuse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Plant (physics) separated from BMS (control), as hardware and firmware are in a real pack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Signals routed with Goto/From tags instead of crossing wires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parameters in a single script (params_pack3s.m); no values typed into blocks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behaviour as the flat model with a fraction of the visible wiring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V. Subsystem Contents</a:t>
            </a:r>
            <a:endParaRPr lang="en-US" sz="3000" dirty="0"/>
          </a:p>
        </p:txBody>
      </p:sp>
      <p:pic>
        <p:nvPicPr>
          <p:cNvPr id="3" name="Cell subsystem" descr="Cell sub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848" y="1234440"/>
            <a:ext cx="5081985" cy="3017520"/>
          </a:xfrm>
          <a:prstGeom prst="rect">
            <a:avLst/>
          </a:prstGeom>
        </p:spPr>
      </p:pic>
      <p:sp>
        <p:nvSpPr>
          <p:cNvPr id="4" name="Caption Fig 13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13.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Cell k: battery, bleed switch, 47 Ω resistor, sensors.</a:t>
            </a:r>
            <a:endParaRPr lang="en-US" sz="1100" dirty="0"/>
          </a:p>
        </p:txBody>
      </p:sp>
      <p:pic>
        <p:nvPicPr>
          <p:cNvPr id="5" name="Charger subsystem" descr="Charger sub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03520" cy="2716437"/>
          </a:xfrm>
          <a:prstGeom prst="rect">
            <a:avLst/>
          </a:prstGeom>
        </p:spPr>
      </p:pic>
      <p:sp>
        <p:nvSpPr>
          <p:cNvPr id="6" name="Caption Fig 14"/>
          <p:cNvSpPr txBox="1"/>
          <p:nvPr/>
        </p:nvSpPr>
        <p:spPr>
          <a:xfrm>
            <a:off x="6309360" y="3996597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14.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Charger: controlled current source (+ charge, − discharge).</a:t>
            </a:r>
            <a:endParaRPr lang="en-US" sz="1100" dirty="0"/>
          </a:p>
        </p:txBody>
      </p:sp>
      <p:pic>
        <p:nvPicPr>
          <p:cNvPr id="7" name="BMS subsystem" descr="BMS subsyst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793" y="4709160"/>
            <a:ext cx="4429934" cy="1417320"/>
          </a:xfrm>
          <a:prstGeom prst="rect">
            <a:avLst/>
          </a:prstGeom>
        </p:spPr>
      </p:pic>
      <p:sp>
        <p:nvSpPr>
          <p:cNvPr id="8" name="Caption Fig 15"/>
          <p:cNvSpPr txBox="1"/>
          <p:nvPr/>
        </p:nvSpPr>
        <p:spPr>
          <a:xfrm>
            <a:off x="832104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15. </a:t>
            </a:r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BMS: supervisor and balancing logic.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VI. SOC-Based Balancing Control Law</a:t>
            </a:r>
            <a:endParaRPr lang="en-US" sz="3000" dirty="0"/>
          </a:p>
        </p:txBody>
      </p:sp>
      <p:sp>
        <p:nvSpPr>
          <p:cNvPr id="3" name="Equation"/>
          <p:cNvSpPr txBox="1"/>
          <p:nvPr/>
        </p:nvSpPr>
        <p:spPr>
          <a:xfrm>
            <a:off x="73152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ΔSOCₖ = SOCₖ − minⱼ(SOCⱼ)</a:t>
            </a:r>
            <a:endParaRPr lang="en-US" sz="2000" dirty="0"/>
          </a:p>
        </p:txBody>
      </p:sp>
      <p:sp>
        <p:nvSpPr>
          <p:cNvPr id="4" name="Control law"/>
          <p:cNvSpPr txBox="1"/>
          <p:nvPr/>
        </p:nvSpPr>
        <p:spPr>
          <a:xfrm>
            <a:off x="731520" y="21031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Bleed switch Sₖ (per cell, evaluated every 1 s):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ON   if  ΔSOCₖ &gt; 1.0 %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OFF  if  ΔSOCₖ &lt; 0.5 %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unchanged otherwise (hysteresis band)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Balancing permitted only when the supervisor sets bal_en = 1</a:t>
            </a:r>
            <a:endParaRPr lang="en-US" sz="1500" dirty="0"/>
          </a:p>
        </p:txBody>
      </p:sp>
      <p:sp>
        <p:nvSpPr>
          <p:cNvPr id="5" name="Body text"/>
          <p:cNvSpPr txBox="1"/>
          <p:nvPr/>
        </p:nvSpPr>
        <p:spPr>
          <a:xfrm>
            <a:off x="731520" y="42976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Lowest-SOC cell is the reference; only cells above it are bled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Hysteresis prevents switch chattering on small differences and measurement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variable is SOC, not terminal voltage, so load current does not corrupt the decision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Implemented with the Simscape Battery Passive Cell Balancing block [5]</a:t>
            </a:r>
            <a:endParaRPr lang="en-US" sz="1400" dirty="0"/>
          </a:p>
        </p:txBody>
      </p:sp>
      <p:sp>
        <p:nvSpPr>
          <p:cNvPr id="6" name="Wire"/>
          <p:cNvSpPr/>
          <p:nvPr/>
        </p:nvSpPr>
        <p:spPr>
          <a:xfrm>
            <a:off x="7132320" y="4389120"/>
            <a:ext cx="420624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7" name="Wire"/>
          <p:cNvSpPr/>
          <p:nvPr/>
        </p:nvSpPr>
        <p:spPr>
          <a:xfrm>
            <a:off x="7132320" y="1463040"/>
            <a:ext cx="914" cy="292608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8" name="Axis x"/>
          <p:cNvSpPr txBox="1"/>
          <p:nvPr/>
        </p:nvSpPr>
        <p:spPr>
          <a:xfrm>
            <a:off x="10241280" y="4480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ΔSOC (%)</a:t>
            </a:r>
            <a:endParaRPr lang="en-US" sz="1200" dirty="0"/>
          </a:p>
        </p:txBody>
      </p:sp>
      <p:sp>
        <p:nvSpPr>
          <p:cNvPr id="9" name="Axis y"/>
          <p:cNvSpPr txBox="1"/>
          <p:nvPr/>
        </p:nvSpPr>
        <p:spPr>
          <a:xfrm>
            <a:off x="6675120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Sₖ</a:t>
            </a:r>
            <a:endParaRPr lang="en-US" sz="1200" dirty="0"/>
          </a:p>
        </p:txBody>
      </p:sp>
      <p:sp>
        <p:nvSpPr>
          <p:cNvPr id="10" name="OFF label"/>
          <p:cNvSpPr txBox="1"/>
          <p:nvPr/>
        </p:nvSpPr>
        <p:spPr>
          <a:xfrm>
            <a:off x="6537960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OFF</a:t>
            </a:r>
            <a:endParaRPr lang="en-US" sz="1100" dirty="0"/>
          </a:p>
        </p:txBody>
      </p:sp>
      <p:sp>
        <p:nvSpPr>
          <p:cNvPr id="11" name="ON label"/>
          <p:cNvSpPr txBox="1"/>
          <p:nvPr/>
        </p:nvSpPr>
        <p:spPr>
          <a:xfrm>
            <a:off x="6629400" y="2240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ON</a:t>
            </a:r>
            <a:endParaRPr lang="en-US" sz="1100" dirty="0"/>
          </a:p>
        </p:txBody>
      </p:sp>
      <p:sp>
        <p:nvSpPr>
          <p:cNvPr id="12" name="Wire"/>
          <p:cNvSpPr/>
          <p:nvPr/>
        </p:nvSpPr>
        <p:spPr>
          <a:xfrm>
            <a:off x="7132320" y="4389120"/>
            <a:ext cx="237744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3" name="Arrow"/>
          <p:cNvSpPr/>
          <p:nvPr/>
        </p:nvSpPr>
        <p:spPr>
          <a:xfrm flipV="1">
            <a:off x="9509760" y="2377440"/>
            <a:ext cx="914" cy="201168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Wire"/>
          <p:cNvSpPr/>
          <p:nvPr/>
        </p:nvSpPr>
        <p:spPr>
          <a:xfrm>
            <a:off x="9509760" y="2377440"/>
            <a:ext cx="16459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5" name="Wire"/>
          <p:cNvSpPr/>
          <p:nvPr/>
        </p:nvSpPr>
        <p:spPr>
          <a:xfrm>
            <a:off x="8321040" y="2377440"/>
            <a:ext cx="11887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6" name="Arrow"/>
          <p:cNvSpPr/>
          <p:nvPr/>
        </p:nvSpPr>
        <p:spPr>
          <a:xfrm>
            <a:off x="8321040" y="2377440"/>
            <a:ext cx="914" cy="201168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7" name="Tick 0.5"/>
          <p:cNvSpPr txBox="1"/>
          <p:nvPr/>
        </p:nvSpPr>
        <p:spPr>
          <a:xfrm>
            <a:off x="8092440" y="4480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0.5</a:t>
            </a:r>
            <a:endParaRPr lang="en-US" sz="1100" dirty="0"/>
          </a:p>
        </p:txBody>
      </p:sp>
      <p:sp>
        <p:nvSpPr>
          <p:cNvPr id="18" name="Tick 1.0"/>
          <p:cNvSpPr txBox="1"/>
          <p:nvPr/>
        </p:nvSpPr>
        <p:spPr>
          <a:xfrm>
            <a:off x="9281160" y="4480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1.0</a:t>
            </a:r>
            <a:endParaRPr lang="en-US" sz="1100" dirty="0"/>
          </a:p>
        </p:txBody>
      </p:sp>
      <p:sp>
        <p:nvSpPr>
          <p:cNvPr id="19" name="Caption Fig 16"/>
          <p:cNvSpPr txBox="1"/>
          <p:nvPr/>
        </p:nvSpPr>
        <p:spPr>
          <a:xfrm>
            <a:off x="66751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16.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Hysteresis characteristic of the bleed switch.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VI. BMS Supervisor: Operating Modes</a:t>
            </a:r>
            <a:endParaRPr lang="en-US" sz="3000" dirty="0"/>
          </a:p>
        </p:txBody>
      </p:sp>
      <p:sp>
        <p:nvSpPr>
          <p:cNvPr id="3" name="Mode CHARGE 0"/>
          <p:cNvSpPr/>
          <p:nvPr/>
        </p:nvSpPr>
        <p:spPr>
          <a:xfrm>
            <a:off x="731520" y="1371600"/>
            <a:ext cx="21031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CHARGE</a:t>
            </a:r>
            <a:endParaRPr lang="en-US" sz="1500" dirty="0"/>
          </a:p>
        </p:txBody>
      </p:sp>
      <p:sp>
        <p:nvSpPr>
          <p:cNvPr id="4" name="Mode detail 0"/>
          <p:cNvSpPr/>
          <p:nvPr/>
        </p:nvSpPr>
        <p:spPr>
          <a:xfrm>
            <a:off x="731520" y="1920240"/>
            <a:ext cx="2103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+1.25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90 min</a:t>
            </a:r>
            <a:endParaRPr lang="en-US" sz="1300" dirty="0"/>
          </a:p>
        </p:txBody>
      </p:sp>
      <p:sp>
        <p:nvSpPr>
          <p:cNvPr id="5" name="Balancing 0"/>
          <p:cNvSpPr txBox="1"/>
          <p:nvPr/>
        </p:nvSpPr>
        <p:spPr>
          <a:xfrm>
            <a:off x="73152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Balancing ON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2834640" y="164592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" name="Mode REST 1"/>
          <p:cNvSpPr/>
          <p:nvPr/>
        </p:nvSpPr>
        <p:spPr>
          <a:xfrm>
            <a:off x="3566160" y="1371600"/>
            <a:ext cx="21031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REST</a:t>
            </a:r>
            <a:endParaRPr lang="en-US" sz="1500" dirty="0"/>
          </a:p>
        </p:txBody>
      </p:sp>
      <p:sp>
        <p:nvSpPr>
          <p:cNvPr id="8" name="Mode detail 1"/>
          <p:cNvSpPr/>
          <p:nvPr/>
        </p:nvSpPr>
        <p:spPr>
          <a:xfrm>
            <a:off x="3566160" y="1920240"/>
            <a:ext cx="2103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 min</a:t>
            </a:r>
            <a:endParaRPr lang="en-US" sz="1300" dirty="0"/>
          </a:p>
        </p:txBody>
      </p:sp>
      <p:sp>
        <p:nvSpPr>
          <p:cNvPr id="9" name="Balancing 1"/>
          <p:cNvSpPr txBox="1"/>
          <p:nvPr/>
        </p:nvSpPr>
        <p:spPr>
          <a:xfrm>
            <a:off x="356616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Balancing ON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5669280" y="164592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1" name="Mode DISCHARGE 2"/>
          <p:cNvSpPr/>
          <p:nvPr/>
        </p:nvSpPr>
        <p:spPr>
          <a:xfrm>
            <a:off x="6400800" y="1371600"/>
            <a:ext cx="21031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DISCHARGE</a:t>
            </a:r>
            <a:endParaRPr lang="en-US" sz="1500" dirty="0"/>
          </a:p>
        </p:txBody>
      </p:sp>
      <p:sp>
        <p:nvSpPr>
          <p:cNvPr id="12" name="Mode detail 2"/>
          <p:cNvSpPr/>
          <p:nvPr/>
        </p:nvSpPr>
        <p:spPr>
          <a:xfrm>
            <a:off x="6400800" y="1920240"/>
            <a:ext cx="2103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−1.25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 min or V_min</a:t>
            </a:r>
            <a:endParaRPr lang="en-US" sz="1300" dirty="0"/>
          </a:p>
        </p:txBody>
      </p:sp>
      <p:sp>
        <p:nvSpPr>
          <p:cNvPr id="13" name="Balancing 2"/>
          <p:cNvSpPr txBox="1"/>
          <p:nvPr/>
        </p:nvSpPr>
        <p:spPr>
          <a:xfrm>
            <a:off x="640080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Balancing OFF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8503920" y="164592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Mode REST 3"/>
          <p:cNvSpPr/>
          <p:nvPr/>
        </p:nvSpPr>
        <p:spPr>
          <a:xfrm>
            <a:off x="9235440" y="1371600"/>
            <a:ext cx="210312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REST</a:t>
            </a:r>
            <a:endParaRPr lang="en-US" sz="1500" dirty="0"/>
          </a:p>
        </p:txBody>
      </p:sp>
      <p:sp>
        <p:nvSpPr>
          <p:cNvPr id="16" name="Mode detail 3"/>
          <p:cNvSpPr/>
          <p:nvPr/>
        </p:nvSpPr>
        <p:spPr>
          <a:xfrm>
            <a:off x="9235440" y="1920240"/>
            <a:ext cx="2103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 min</a:t>
            </a:r>
            <a:endParaRPr lang="en-US" sz="1300" dirty="0"/>
          </a:p>
        </p:txBody>
      </p:sp>
      <p:sp>
        <p:nvSpPr>
          <p:cNvPr id="17" name="Balancing 3"/>
          <p:cNvSpPr txBox="1"/>
          <p:nvPr/>
        </p:nvSpPr>
        <p:spPr>
          <a:xfrm>
            <a:off x="923544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Balancing ON</a:t>
            </a:r>
            <a:endParaRPr lang="en-US" sz="1300" dirty="0"/>
          </a:p>
        </p:txBody>
      </p:sp>
      <p:sp>
        <p:nvSpPr>
          <p:cNvPr id="18" name="Wire"/>
          <p:cNvSpPr/>
          <p:nvPr/>
        </p:nvSpPr>
        <p:spPr>
          <a:xfrm>
            <a:off x="10287000" y="3108960"/>
            <a:ext cx="914" cy="22860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9" name="Wire"/>
          <p:cNvSpPr/>
          <p:nvPr/>
        </p:nvSpPr>
        <p:spPr>
          <a:xfrm>
            <a:off x="1783080" y="3337560"/>
            <a:ext cx="85039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20" name="Arrow"/>
          <p:cNvSpPr/>
          <p:nvPr/>
        </p:nvSpPr>
        <p:spPr>
          <a:xfrm flipV="1">
            <a:off x="1783080" y="3108960"/>
            <a:ext cx="914" cy="22860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1" name="Caption Fig 17"/>
          <p:cNvSpPr txBox="1"/>
          <p:nvPr/>
        </p:nvSpPr>
        <p:spPr>
          <a:xfrm>
            <a:off x="731520" y="3474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17.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Timed mode cycle of the supervisor (returns to CHARGE).</a:t>
            </a:r>
            <a:endParaRPr lang="en-US" sz="1100" dirty="0"/>
          </a:p>
        </p:txBody>
      </p:sp>
      <p:sp>
        <p:nvSpPr>
          <p:cNvPr id="22" name="Caption Table 5"/>
          <p:cNvSpPr txBox="1"/>
          <p:nvPr/>
        </p:nvSpPr>
        <p:spPr>
          <a:xfrm>
            <a:off x="731520" y="3931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V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SUPERVISOR TRANSITION RULES</a:t>
            </a:r>
            <a:endParaRPr lang="en-US" sz="1100" dirty="0"/>
          </a:p>
        </p:txBody>
      </p:sp>
      <p:graphicFrame>
        <p:nvGraphicFramePr>
          <p:cNvPr id="1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43484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command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condition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+I_chg; 0 if V_max ≥ 4.20 V until V_max &lt; 4.15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≥ 90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≥ 20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DISCHARGE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−I_dis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≥ 40 min or V_min ≤ 3.0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≥ 10 min → CHARGE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Body text"/>
          <p:cNvSpPr txBox="1"/>
          <p:nvPr/>
        </p:nvSpPr>
        <p:spPr>
          <a:xfrm>
            <a:off x="7680960" y="40233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Implemented as a MATLAB Function block (discrete, 1 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Balancing blocked in DISCHARGE: bleeding while the load drains the pack would waste energy twice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One-step memory on measured voltages avoids an algebraic loop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VII. Results A: Identical Cells</a:t>
            </a:r>
            <a:endParaRPr lang="en-US" sz="3000" dirty="0"/>
          </a:p>
        </p:txBody>
      </p:sp>
      <p:pic>
        <p:nvPicPr>
          <p:cNvPr id="3" name="Result identical cells" descr="Result identical ce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099" y="1143000"/>
            <a:ext cx="4967241" cy="4892040"/>
          </a:xfrm>
          <a:prstGeom prst="rect">
            <a:avLst/>
          </a:prstGeom>
        </p:spPr>
      </p:pic>
      <p:sp>
        <p:nvSpPr>
          <p:cNvPr id="4" name="Caption Fig 18"/>
          <p:cNvSpPr txBox="1"/>
          <p:nvPr/>
        </p:nvSpPr>
        <p:spPr>
          <a:xfrm>
            <a:off x="548640" y="60624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18.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SOC, spread, bleed commands, voltages/current, mode.</a:t>
            </a:r>
            <a:endParaRPr lang="en-US" sz="1100" dirty="0"/>
          </a:p>
        </p:txBody>
      </p:sp>
      <p:sp>
        <p:nvSpPr>
          <p:cNvPr id="5" name="Case A setup"/>
          <p:cNvSpPr txBox="1"/>
          <p:nvPr/>
        </p:nvSpPr>
        <p:spPr>
          <a:xfrm>
            <a:off x="6766560" y="1280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Initial SOC = 0.80 / 0.75 / 0.75; Q = 2.5 / 2.5 / 2.5 Ah; R₀ scale = 1 / 1 / 1</a:t>
            </a:r>
            <a:endParaRPr lang="en-US" sz="1300" dirty="0"/>
          </a:p>
        </p:txBody>
      </p:sp>
      <p:sp>
        <p:nvSpPr>
          <p:cNvPr id="6" name="Body text"/>
          <p:cNvSpPr txBox="1"/>
          <p:nvPr/>
        </p:nvSpPr>
        <p:spPr>
          <a:xfrm>
            <a:off x="6766560" y="192024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SOC spread reduced from 5.0 % to below 1 % in 68.1 min (during charging)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Cell 1 (highest SOC) is bled; total bleed time 76.6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Dissipated energy: 1680 J (0.47 Wh), 1.7 % of pack energy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Spread settles at 0.5 %, the hysteresis OFF threshold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new imbalance after discharge: identical cells drift together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VII. Results B: Capacity and Resistance Mismatch</a:t>
            </a:r>
            <a:endParaRPr lang="en-US" sz="3000" dirty="0"/>
          </a:p>
        </p:txBody>
      </p:sp>
      <p:pic>
        <p:nvPicPr>
          <p:cNvPr id="3" name="Result mismatched cells" descr="Result mismatched ce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099" y="1143000"/>
            <a:ext cx="4967241" cy="4892040"/>
          </a:xfrm>
          <a:prstGeom prst="rect">
            <a:avLst/>
          </a:prstGeom>
        </p:spPr>
      </p:pic>
      <p:sp>
        <p:nvSpPr>
          <p:cNvPr id="4" name="Caption Fig 19"/>
          <p:cNvSpPr txBox="1"/>
          <p:nvPr/>
        </p:nvSpPr>
        <p:spPr>
          <a:xfrm>
            <a:off x="548640" y="60624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19.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cycle with mismatched cells.</a:t>
            </a:r>
            <a:endParaRPr lang="en-US" sz="1100" dirty="0"/>
          </a:p>
        </p:txBody>
      </p:sp>
      <p:sp>
        <p:nvSpPr>
          <p:cNvPr id="5" name="Case B setup"/>
          <p:cNvSpPr txBox="1"/>
          <p:nvPr/>
        </p:nvSpPr>
        <p:spPr>
          <a:xfrm>
            <a:off x="6766560" y="1280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Initial SOC = 0.80 / 0.75 / 0.75; Q = 2.5 / 2.3 / 2.5 Ah; R₀ scale = 1 / 1 / 1.5</a:t>
            </a:r>
            <a:endParaRPr lang="en-US" sz="1300" dirty="0"/>
          </a:p>
        </p:txBody>
      </p:sp>
      <p:sp>
        <p:nvSpPr>
          <p:cNvPr id="6" name="Body text"/>
          <p:cNvSpPr txBox="1"/>
          <p:nvPr/>
        </p:nvSpPr>
        <p:spPr>
          <a:xfrm>
            <a:off x="6766560" y="192024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During discharge the 2.3 Ah cell is depleted faster; spread grows from 0.5 % to 2.8 %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Balancing in the following rest and charge restores the spread to 0.5 %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three cells bled at some point: 100 / 39.6 / 19.6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Dissipated energy: 3374 J (0.94 Wh), 3.4 % of pack energy per cycle, twice Case 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Imbalance is regenerated every cycle, so balancing is a continuous task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VII. Quantitative Comparison</a:t>
            </a:r>
            <a:endParaRPr lang="en-US" sz="3000" dirty="0"/>
          </a:p>
        </p:txBody>
      </p:sp>
      <p:sp>
        <p:nvSpPr>
          <p:cNvPr id="3" name="Caption Table 6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VI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BALANCING PERFORMANCE OVER ONE CYCLE (240 MIN)</a:t>
            </a:r>
            <a:endParaRPr lang="en-US" sz="1100" dirty="0"/>
          </a:p>
        </p:txBody>
      </p:sp>
      <p:graphicFrame>
        <p:nvGraphicFramePr>
          <p:cNvPr id="1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A: identical cells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B: mismatched cells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(Ah) / R₀ scale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2.5, 2.5, 2.5 / 1, 1,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2.5, 2.3, 2.5 / 1, 1, 1.5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Usable pack capacity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Ah (27.75 Wh)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 Ah (≈ 25.5 Wh)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spread &lt; 1 % (first charge)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spread after discharge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0.5 %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ON time, Cell 1 / 2 / 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76.6 / 0 / 0 min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/ 39.6 / 19.6 min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dissipated in resistors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1680 J (0.47 Wh)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3374 J (0.94 Wh)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Dissipated / pack energy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SOC spread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omparison note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Mismatch does not slow the initial convergence but doubles the energy dissipated, because new imbalance is created in every discharge.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VIII. Discussion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48640" y="128016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SOC-based passive balancing restores the pack within one charge-rest period in both cases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Capacity mismatch, not initial SOC offset, is the persistent source of imbalance in operation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Passive balancing cost scales with mismatch: about 1 Wh per cycle in this 27.75 Wh pack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Restricting balancing to CHARGE and REST avoids dissipating energy while the load is drawing from the pack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Terminal voltage under load misrepresents SOC by up to 0.2 V in this cell, supporting an SOC-based trigger</a:t>
            </a:r>
            <a:endParaRPr lang="en-US" sz="1600" dirty="0"/>
          </a:p>
        </p:txBody>
      </p:sp>
      <p:sp>
        <p:nvSpPr>
          <p:cNvPr id="4" name="Stat 1"/>
          <p:cNvSpPr txBox="1"/>
          <p:nvPr/>
        </p:nvSpPr>
        <p:spPr>
          <a:xfrm>
            <a:off x="7863840" y="1371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0.20 V</a:t>
            </a:r>
            <a:endParaRPr lang="en-US" sz="4000" dirty="0"/>
          </a:p>
        </p:txBody>
      </p:sp>
      <p:sp>
        <p:nvSpPr>
          <p:cNvPr id="5" name="Stat label 1"/>
          <p:cNvSpPr txBox="1"/>
          <p:nvPr/>
        </p:nvSpPr>
        <p:spPr>
          <a:xfrm>
            <a:off x="786384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voltage error at equal SOC</a:t>
            </a:r>
            <a:endParaRPr lang="en-US" sz="1400" dirty="0"/>
          </a:p>
        </p:txBody>
      </p:sp>
      <p:sp>
        <p:nvSpPr>
          <p:cNvPr id="6" name="Stat 2"/>
          <p:cNvSpPr txBox="1"/>
          <p:nvPr/>
        </p:nvSpPr>
        <p:spPr>
          <a:xfrm>
            <a:off x="7863840" y="2971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68 min</a:t>
            </a:r>
            <a:endParaRPr lang="en-US" sz="4000" dirty="0"/>
          </a:p>
        </p:txBody>
      </p:sp>
      <p:sp>
        <p:nvSpPr>
          <p:cNvPr id="7" name="Stat label 2"/>
          <p:cNvSpPr txBox="1"/>
          <p:nvPr/>
        </p:nvSpPr>
        <p:spPr>
          <a:xfrm>
            <a:off x="786384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 reach &lt; 1 % spread</a:t>
            </a:r>
            <a:endParaRPr lang="en-US" sz="1400" dirty="0"/>
          </a:p>
        </p:txBody>
      </p:sp>
      <p:sp>
        <p:nvSpPr>
          <p:cNvPr id="8" name="Stat 3"/>
          <p:cNvSpPr txBox="1"/>
          <p:nvPr/>
        </p:nvSpPr>
        <p:spPr>
          <a:xfrm>
            <a:off x="7863840" y="4572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0.94 Wh</a:t>
            </a:r>
            <a:endParaRPr lang="en-US" sz="4000" dirty="0"/>
          </a:p>
        </p:txBody>
      </p:sp>
      <p:sp>
        <p:nvSpPr>
          <p:cNvPr id="9" name="Stat label 3"/>
          <p:cNvSpPr txBox="1"/>
          <p:nvPr/>
        </p:nvSpPr>
        <p:spPr>
          <a:xfrm>
            <a:off x="7863840" y="5349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dissipated per cycle (Case B)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VIII. Limitations and Future Work</a:t>
            </a:r>
            <a:endParaRPr lang="en-US" sz="3000" dirty="0"/>
          </a:p>
        </p:txBody>
      </p:sp>
      <p:sp>
        <p:nvSpPr>
          <p:cNvPr id="3" name="Caption Table 7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VII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LIMITATIONS AND PLANNED EXTENSIONS</a:t>
            </a:r>
            <a:endParaRPr lang="en-US" sz="1100" dirty="0"/>
          </a:p>
        </p:txBody>
      </p:sp>
      <p:graphicFrame>
        <p:nvGraphicFramePr>
          <p:cNvPr id="20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 in this work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extension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BMS uses the true (model) SOC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 estimation: Coulomb counting with sensor offset, then an Extended Kalman Filter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direct voltage-triggered baseline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Switchable voltage-based rule on the same pack for a head-to-head comparison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charging with hard cut-off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CC-CV charging profile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model only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model of cells and bleed resistors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dissipated as heat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balancing with a bidirectional buck-boost converter and PI current 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Three-cell pack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to 12S/16S modules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IX. Conclusion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48640" y="128016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3S Li-ion pack (11.1 V, 2.5 Ah, 27.75 Wh) with per-cell passive balancing was modelled in Simulink/Simscape Battery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cell model was validated against an independent script (error ≤ 0.6 mV)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 SOC-based control law with hysteresis and a mode supervisor reduced the SOC spread from 5 % to 0.5 %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Capacity mismatch regenerates imbalance each discharge and doubles the dissipated energy (0.47 Wh → 0.94 Wh per cycle)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subsystem architecture provides a base for SOC estimation and active balancing</a:t>
            </a:r>
            <a:endParaRPr lang="en-US" sz="1600" dirty="0"/>
          </a:p>
        </p:txBody>
      </p:sp>
      <p:sp>
        <p:nvSpPr>
          <p:cNvPr id="4" name="Caption Table 8"/>
          <p:cNvSpPr txBox="1"/>
          <p:nvPr/>
        </p:nvSpPr>
        <p:spPr>
          <a:xfrm>
            <a:off x="786384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VIII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COURSE OUTCOME MAPPING</a:t>
            </a:r>
            <a:endParaRPr lang="en-US" sz="1100" dirty="0"/>
          </a:p>
        </p:txBody>
      </p:sp>
      <p:graphicFrame>
        <p:nvGraphicFramePr>
          <p:cNvPr id="21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37360"/>
          <a:ext cx="3749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 / Module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operation: charge, rest, discharge, cut-offs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BMS: balancing, protection, supervisor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SOC, OCV, R₀, capacity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III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BMS and cell equalisation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IV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Converters (future work)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Reference list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[1]  Texas Instruments, "Cell balancing with BQ769x2 battery monitors," Application Note SLUAA81. [Online]. Available: https://www.ti.com/lit/pdf/sluaa81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[2]  "Cell balancing paradigms: Advanced types, algorithms, and optimization frameworks," arXiv:2411.05478, 2024. [Online]. Available: https://arxiv.org/abs/2411.05478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[3]  "A deeper look into active balancing on BMS, Part 1," Embedded Computing Design. [Online]. Available: https://embeddedcomputing.com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[4]  "State-of-charge estimation for onboard LiFePO4 batteries with adaptive state update in specific open-circuit-voltage ranges," Applied Energy, 2023. [Online]. Available: https://www.sciencedirect.com/science/article/abs/pii/S0306261923009455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[5]  The MathWorks, Inc., "Simscape Battery: Battery (Table-Based) and Passive Cell Balancing blocks," MATLAB R2025b documentation, 2025.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scripts: MATLAB project SOC_Based_Cell_Balancing (models/, scripts/, results/)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EEE Plain">
  <a:themeElements>
    <a:clrScheme name="IEEE Plain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00629B"/>
      </a:accent1>
      <a:accent2>
        <a:srgbClr val="595959"/>
      </a:accent2>
      <a:accent3>
        <a:srgbClr val="A6A6A6"/>
      </a:accent3>
      <a:accent4>
        <a:srgbClr val="7F7F7F"/>
      </a:accent4>
      <a:accent5>
        <a:srgbClr val="BFBFBF"/>
      </a:accent5>
      <a:accent6>
        <a:srgbClr val="D9D9D9"/>
      </a:accent6>
      <a:hlink>
        <a:srgbClr val="00629B"/>
      </a:hlink>
      <a:folHlink>
        <a:srgbClr val="595959"/>
      </a:folHlink>
    </a:clrScheme>
    <a:fontScheme name="IEEE Plai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SOC-Based Passive Cell Balancing for a 3S Li-ion Pack</dc:title>
  <dc:subject>PptxGenJS Presentation</dc:subject>
  <dc:creator>ESS-EV Mini Project Group</dc:creator>
  <cp:lastModifiedBy>ESS-EV Mini Project Group</cp:lastModifiedBy>
  <cp:revision>1</cp:revision>
  <dcterms:created xsi:type="dcterms:W3CDTF">2026-10-04T12:22:06Z</dcterms:created>
  <dcterms:modified xsi:type="dcterms:W3CDTF">2026-10-04T12:22:06Z</dcterms:modified>
</cp:coreProperties>
</file>